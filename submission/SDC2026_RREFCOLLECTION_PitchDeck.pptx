
<file path=[Content_Types].xml><?xml version="1.0" encoding="utf-8"?>
<Types xmlns="http://schemas.openxmlformats.org/package/2006/content-types">
  <Default Extension="xml" ContentType="application/xml"/>
  <Default Extension="rels" ContentType="application/vnd.openxmlformats-package.relationships+xml"/>
  <Override PartName="/ppt/slides/slide6.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bleStyles.xml" ContentType="application/vnd.openxmlformats-officedocument.presentationml.tableStyles+xml"/>
  <Override PartName="/ppt/slides/slide5.xml" ContentType="application/vnd.openxmlformats-officedocument.presentationml.slide+xml"/>
  <Override PartName="/ppt/theme/theme1.xml" ContentType="application/vnd.openxmlformats-officedocument.theme+xml"/>
  <Override PartName="/ppt/slides/slide7.xml" ContentType="application/vnd.openxmlformats-officedocument.presentationml.slide+xml"/>
  <Override PartName="/ppt/slides/slide1.xml" ContentType="application/vnd.openxmlformats-officedocument.presentationml.slide+xml"/>
  <Override PartName="/docProps/core.xml" ContentType="application/vnd.openxmlformats-package.core-properties+xml"/>
  <Override PartName="/ppt/presProps.xml" ContentType="application/vnd.openxmlformats-officedocument.presentationml.presProps+xml"/>
  <Override PartName="/ppt/slides/slide4.xml" ContentType="application/vnd.openxmlformats-officedocument.presentationml.slide+xml"/>
  <Override PartName="/ppt/viewProps.xml" ContentType="application/vnd.openxmlformats-officedocument.presentationml.viewProps+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8.xml" ContentType="application/vnd.openxmlformats-officedocument.presentationml.slide+xml"/>
  <Override PartName="/ppt/slideMasters/slideMaster1.xml" ContentType="application/vnd.openxmlformats-officedocument.presentationml.slideMaster+xml"/>
  <Override PartName="/ppt/slides/slide9.xml" ContentType="application/vnd.openxmlformats-officedocument.presentationml.slide+xml"/>
  <Override PartName="/docProps/custom.xml" ContentType="application/vnd.openxmlformats-officedocument.custom-properties+xml"/>
  <Override PartName="/ppt/slides/slide3.xml" ContentType="application/vnd.openxmlformats-officedocument.presentationml.slide+xml"/>
  <Override PartName="/ppt/theme/theme2.xml" ContentType="application/vnd.openxmlformats-officedocument.theme+xml"/>
</Types>
</file>

<file path=_rels/.rels><?xml version="1.0" encoding="UTF-8" standalone="yes"?><Relationships xmlns="http://schemas.openxmlformats.org/package/2006/relationships"><Relationship Id="rId3" Type="http://schemas.openxmlformats.org/officeDocument/2006/relationships/custom-properties" Target="docProps/custom.xml" /><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r="http://schemas.openxmlformats.org/officeDocument/2006/relationships" xmlns:p="http://schemas.openxmlformats.org/presentationml/2006/main" xmlns:a="http://schemas.openxmlformats.org/drawingml/2006/main" firstSlideNum="1">
  <p:sldMasterIdLst>
    <p:sldMasterId id="2147483648" r:id="rId0"/>
  </p:sldMasterIdLst>
  <p:notesMasterIdLst>
    <p:notesMasterId r:id="rId10"/>
  </p:notesMasterIdLst>
  <p:sldIdLst>
    <p:sldId id="256" r:id="rId1"/>
    <p:sldId id="257" r:id="rId2"/>
    <p:sldId id="258" r:id="rId3"/>
    <p:sldId id="259" r:id="rId4"/>
    <p:sldId id="260" r:id="rId5"/>
    <p:sldId id="261" r:id="rId6"/>
    <p:sldId id="262" r:id="rId7"/>
    <p:sldId id="263" r:id="rId8"/>
    <p:sldId id="264"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9" Type="http://schemas.openxmlformats.org/officeDocument/2006/relationships/slide" Target="slides/slide9.xml" /><Relationship Id="rId8" Type="http://schemas.openxmlformats.org/officeDocument/2006/relationships/slide" Target="slides/slide8.xml" /><Relationship Id="rId7" Type="http://schemas.openxmlformats.org/officeDocument/2006/relationships/slide" Target="slides/slide7.xml" /><Relationship Id="rId4" Type="http://schemas.openxmlformats.org/officeDocument/2006/relationships/slide" Target="slides/slide4.xml" /><Relationship Id="rId13" Type="http://schemas.openxmlformats.org/officeDocument/2006/relationships/viewProps" Target="viewProps.xml" /><Relationship Id="rId12" Type="http://schemas.openxmlformats.org/officeDocument/2006/relationships/tableStyles" Target="tableStyles.xml" /><Relationship Id="rId2" Type="http://schemas.openxmlformats.org/officeDocument/2006/relationships/slide" Target="slides/slide2.xml" /><Relationship Id="rId11" Type="http://schemas.openxmlformats.org/officeDocument/2006/relationships/presProps" Target="presProps.xml" /><Relationship Id="rId1" Type="http://schemas.openxmlformats.org/officeDocument/2006/relationships/slide" Target="slides/slide1.xml" /><Relationship Id="rId6" Type="http://schemas.openxmlformats.org/officeDocument/2006/relationships/slide" Target="slides/slide6.xml" /><Relationship Id="rId5" Type="http://schemas.openxmlformats.org/officeDocument/2006/relationships/slide" Target="slides/slide5.xml" /><Relationship Id="rId3" Type="http://schemas.openxmlformats.org/officeDocument/2006/relationships/slide" Target="slides/slide3.xml" /><Relationship Id="rId10" Type="http://schemas.openxmlformats.org/officeDocument/2006/relationships/notesMaster" Target="notesMasters/notesMaster1.xml" /><Relationship Id="rId0" Type="http://schemas.openxmlformats.org/officeDocument/2006/relationships/slideMaster" Target="slideMasters/slideMaster1.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r="http://schemas.openxmlformats.org/officeDocument/2006/relationships"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p:cSld>
    <p:spTree>
      <p:nvGrpSpPr>
        <p:cNvPr id="1" name="" descr="&lt;Slide style={{ width: 1280, height: 720, padding: 60, background: '#FFFFFF', fontFamily: 'Arial', flexDirection: 'row', gap: 48 }}&gt;&#10;  &lt;Box style={{ flex: 1, flexDirection: 'column' }}&gt;&#10;    &lt;Text style={{ fontSize: 15, fontWeight: 'bold', color: '#2563EB', letterSpacing: 2.2 }}&gt;&#10;      RREF COLLECTION · SDC 2026 · DOMAIN 2&#10;    &lt;/Text&gt;&#10;    &lt;Box style={{ height: 36 }} /&gt;&#10;    &lt;Text style={{ fontSize: 68, fontWeight: 'bold', color: '#0F172A', lineHeight: 1.12, letterSpacing: -1.5 }}&gt;&#10;      We chase the promise,&lt;br /&gt;not the invoice.&#10;    &lt;/Text&gt;&#10;    &lt;Box style={{ width: 64, height: 3, background: '#F59E0B', borderRadius: 2, marginTop: 34 }} /&gt;&#10;    &lt;Text style={{ fontSize: 21, color: '#475569', lineHeight: 1.55, marginTop: 26, maxWidth: 700 }}&gt;&#10;      CollectLoop keeps every verbal promise on record — and drafts the message only when the&#10;      promise is gone.&#10;    &lt;/Text&gt;&#10;    &lt;Box style={{ flex: 1 }} /&gt;&#10;    &lt;Text style={{ fontSize: 15, color: '#64748B', lineHeight: 1.4 }}&gt;&#10;      Xiamen University Malaysia · Preliminary Round · 25 October 2026&#10;    &lt;/Text&gt;&#10;  &lt;/Box&gt;&#10;  &lt;Box style={{ width: 296, height: 600, background: '#0F172A', borderRadius: 8, padding: 28, justifyContent: 'flex-end' }}&gt;&#10;    &lt;Text style={{ fontSize: 13, fontWeight: 'bold', color: '#93C5FD', letterSpacing: 1.6, lineHeight: 1.4 }}&gt;&#10;      THE ONE-LINE VERSION&#10;    &lt;/Text&gt;&#10;    &lt;Text style={{ fontSize: 20, color: '#FFFFFF', lineHeight: 1.55, marginTop: 16 }}&gt;&#10;      Nothing leaves the building unlogged. A human approves every send.&#10;    &lt;/Text&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descr="{&quot;isTemplate&quot;:true,&quot;type&quot;:&quot;text&quot;}"/>
          <p:cNvSpPr txBox="1"/>
          <p:nvPr/>
        </p:nvSpPr>
        <p:spPr>
          <a:xfrm rot="0" flipH="0" flipV="0">
            <a:off x="571500" y="571500"/>
            <a:ext cx="7772400" cy="171450"/>
          </a:xfrm>
          <a:prstGeom prst="rect"/>
        </p:spPr>
        <p:txBody>
          <a:bodyPr wrap="none" lIns="0" tIns="0" rIns="0" bIns="0"/>
          <a:p>
            <a:pPr>
              <a:lnSpc>
                <a:spcPct val="100000"/>
              </a:lnSpc>
            </a:pPr>
            <a:r>
              <a:rPr lang="en-US" sz="1125" b="1" spc="165">
                <a:solidFill>
                  <a:srgbClr val="2563EB"/>
                </a:solidFill>
                <a:latin typeface="Arial"/>
                <a:ea typeface="Arial"/>
              </a:rPr>
              <a:t>RREF COLLECTION · SDC 2026 · DOMAIN 2</a:t>
            </a:r>
            <a:endParaRPr/>
          </a:p>
        </p:txBody>
      </p:sp>
      <p:sp>
        <p:nvSpPr>
          <p:cNvPr id="4" name="" descr="{&quot;isTemplate&quot;:true,&quot;type&quot;:&quot;text&quot;}"/>
          <p:cNvSpPr txBox="1"/>
          <p:nvPr/>
        </p:nvSpPr>
        <p:spPr>
          <a:xfrm rot="0" flipH="0" flipV="0">
            <a:off x="571500" y="1085850"/>
            <a:ext cx="7772400" cy="1743075"/>
          </a:xfrm>
          <a:prstGeom prst="rect"/>
        </p:spPr>
        <p:txBody>
          <a:bodyPr wrap="none" lIns="0" tIns="0" rIns="0" bIns="0"/>
          <a:p>
            <a:pPr>
              <a:lnSpc>
                <a:spcPct val="112000"/>
              </a:lnSpc>
            </a:pPr>
            <a:r>
              <a:rPr lang="en-US" sz="5100" b="1" spc="-112">
                <a:solidFill>
                  <a:srgbClr val="0F172A"/>
                </a:solidFill>
                <a:latin typeface="Arial"/>
                <a:ea typeface="Arial"/>
              </a:rPr>
              <a:t>We chase the promise,</a:t>
            </a:r>
            <a:endParaRPr/>
          </a:p>
          <a:p>
            <a:pPr>
              <a:lnSpc>
                <a:spcPct val="112000"/>
              </a:lnSpc>
            </a:pPr>
            <a:r>
              <a:rPr lang="en-US" sz="5100" b="1" spc="-112">
                <a:solidFill>
                  <a:srgbClr val="0F172A"/>
                </a:solidFill>
                <a:latin typeface="Arial"/>
                <a:ea typeface="Arial"/>
              </a:rPr>
              <a:t>not the invoice.</a:t>
            </a:r>
            <a:endParaRPr/>
          </a:p>
        </p:txBody>
      </p:sp>
      <p:sp>
        <p:nvSpPr>
          <p:cNvPr id="5" name=""/>
          <p:cNvSpPr/>
          <p:nvPr/>
        </p:nvSpPr>
        <p:spPr>
          <a:xfrm rot="0" flipH="0" flipV="0">
            <a:off x="571500" y="3152775"/>
            <a:ext cx="609600" cy="28575"/>
          </a:xfrm>
          <a:prstGeom prst="roundRect">
            <a:avLst>
              <a:gd name="adj" fmla="val 66667"/>
            </a:avLst>
          </a:prstGeom>
          <a:solidFill>
            <a:srgbClr val="F59E0B"/>
          </a:solidFill>
          <a:ln/>
        </p:spPr>
        <p:txBody>
          <a:bodyPr/>
          <a:p/>
        </p:txBody>
      </p:sp>
      <p:sp>
        <p:nvSpPr>
          <p:cNvPr id="6" name="" descr="{&quot;isTemplate&quot;:true,&quot;type&quot;:&quot;text&quot;}"/>
          <p:cNvSpPr txBox="1"/>
          <p:nvPr/>
        </p:nvSpPr>
        <p:spPr>
          <a:xfrm rot="0" flipH="0" flipV="0">
            <a:off x="571500" y="3429000"/>
            <a:ext cx="7772400" cy="752475"/>
          </a:xfrm>
          <a:prstGeom prst="rect"/>
        </p:spPr>
        <p:txBody>
          <a:bodyPr wrap="square" lIns="0" tIns="0" rIns="0" bIns="0">
            <a:normAutofit/>
          </a:bodyPr>
          <a:p>
            <a:pPr>
              <a:lnSpc>
                <a:spcPct val="155000"/>
              </a:lnSpc>
            </a:pPr>
            <a:r>
              <a:rPr lang="en-US" sz="1575">
                <a:solidFill>
                  <a:srgbClr val="475569"/>
                </a:solidFill>
                <a:latin typeface="Arial"/>
                <a:ea typeface="Arial"/>
              </a:rPr>
              <a:t>CollectLoop keeps every verbal promise on record — and drafts the message only when the promise is gone.</a:t>
            </a:r>
            <a:endParaRPr/>
          </a:p>
        </p:txBody>
      </p:sp>
      <p:sp>
        <p:nvSpPr>
          <p:cNvPr id="7" name="" descr="{&quot;isTemplate&quot;:true,&quot;type&quot;:&quot;text&quot;}"/>
          <p:cNvSpPr txBox="1"/>
          <p:nvPr/>
        </p:nvSpPr>
        <p:spPr>
          <a:xfrm rot="0" flipH="0" flipV="0">
            <a:off x="571500" y="6038850"/>
            <a:ext cx="7772400" cy="247650"/>
          </a:xfrm>
          <a:prstGeom prst="rect"/>
        </p:spPr>
        <p:txBody>
          <a:bodyPr wrap="none" lIns="0" tIns="0" rIns="0" bIns="0"/>
          <a:p>
            <a:pPr>
              <a:lnSpc>
                <a:spcPct val="140000"/>
              </a:lnSpc>
            </a:pPr>
            <a:r>
              <a:rPr lang="en-US" sz="1125">
                <a:solidFill>
                  <a:srgbClr val="64748B"/>
                </a:solidFill>
                <a:latin typeface="Arial"/>
                <a:ea typeface="Arial"/>
              </a:rPr>
              <a:t>Xiamen University Malaysia · Preliminary Round · 25 October 2026</a:t>
            </a:r>
            <a:endParaRPr/>
          </a:p>
        </p:txBody>
      </p:sp>
      <p:sp>
        <p:nvSpPr>
          <p:cNvPr id="8" name=""/>
          <p:cNvSpPr/>
          <p:nvPr/>
        </p:nvSpPr>
        <p:spPr>
          <a:xfrm rot="0" flipH="0" flipV="0">
            <a:off x="8801100" y="571500"/>
            <a:ext cx="2819400" cy="5715000"/>
          </a:xfrm>
          <a:prstGeom prst="roundRect">
            <a:avLst>
              <a:gd name="adj" fmla="val 2703"/>
            </a:avLst>
          </a:prstGeom>
          <a:solidFill>
            <a:srgbClr val="0F172A"/>
          </a:solidFill>
          <a:ln/>
        </p:spPr>
        <p:txBody>
          <a:bodyPr/>
          <a:p/>
        </p:txBody>
      </p:sp>
      <p:sp>
        <p:nvSpPr>
          <p:cNvPr id="9" name="" descr="{&quot;isTemplate&quot;:true,&quot;type&quot;:&quot;text&quot;}"/>
          <p:cNvSpPr txBox="1"/>
          <p:nvPr/>
        </p:nvSpPr>
        <p:spPr>
          <a:xfrm rot="0" flipH="0" flipV="0">
            <a:off x="9067800" y="4238625"/>
            <a:ext cx="2286000" cy="209550"/>
          </a:xfrm>
          <a:prstGeom prst="rect"/>
        </p:spPr>
        <p:txBody>
          <a:bodyPr wrap="none" lIns="0" tIns="0" rIns="0" bIns="0"/>
          <a:p>
            <a:pPr>
              <a:lnSpc>
                <a:spcPct val="140000"/>
              </a:lnSpc>
            </a:pPr>
            <a:r>
              <a:rPr lang="en-US" sz="975" b="1" spc="120">
                <a:solidFill>
                  <a:srgbClr val="93C5FD"/>
                </a:solidFill>
                <a:latin typeface="Arial"/>
                <a:ea typeface="Arial"/>
              </a:rPr>
              <a:t>THE ONE-LINE VERSION</a:t>
            </a:r>
            <a:endParaRPr/>
          </a:p>
        </p:txBody>
      </p:sp>
      <p:sp>
        <p:nvSpPr>
          <p:cNvPr id="10" name="" descr="{&quot;isTemplate&quot;:true,&quot;type&quot;:&quot;text&quot;}"/>
          <p:cNvSpPr txBox="1"/>
          <p:nvPr/>
        </p:nvSpPr>
        <p:spPr>
          <a:xfrm rot="0" flipH="0" flipV="0">
            <a:off x="9067800" y="4600575"/>
            <a:ext cx="2286000" cy="1419225"/>
          </a:xfrm>
          <a:prstGeom prst="rect"/>
        </p:spPr>
        <p:txBody>
          <a:bodyPr wrap="square" lIns="0" tIns="0" rIns="0" bIns="0">
            <a:normAutofit/>
          </a:bodyPr>
          <a:p>
            <a:pPr>
              <a:lnSpc>
                <a:spcPct val="155000"/>
              </a:lnSpc>
            </a:pPr>
            <a:r>
              <a:rPr lang="en-US" sz="1500">
                <a:solidFill>
                  <a:srgbClr val="FFFFFF"/>
                </a:solidFill>
                <a:latin typeface="Arial"/>
                <a:ea typeface="Arial"/>
              </a:rPr>
              <a:t>Nothing leaves the building unlogged. A human approves every send.</a:t>
            </a:r>
            <a:endParaRPr/>
          </a:p>
        </p:txBody>
      </p:sp>
    </p:spTree>
  </p:cSld>
</p:sld>
</file>

<file path=ppt/slides/slide2.xml><?xml version="1.0" encoding="utf-8"?>
<p:sld xmlns:p="http://schemas.openxmlformats.org/presentationml/2006/main" xmlns:a="http://schemas.openxmlformats.org/drawingml/2006/main">
  <p:cSld>
    <p:spTree>
      <p:nvGrpSpPr>
        <p:cNvPr id="11" name="" descr="&lt;Slide style={{ width: 1280, height: 720, padding: 60, background: '#FFFFFF', fontFamily: 'Arial', flexDirection: 'column' }}&gt;&#10;  &lt;Text style={{ fontSize: 34, fontWeight: 'bold', color: '#0F172A', lineHeight: 1.18, letterSpacing: -0.6 }}&gt;&#10;    Five lines. Every slide after this one defends one of them.&#10;  &lt;/Text&gt;&#10;  &lt;Box style={{ height: 1, background: '#E2E8F0', marginTop: 16 }} /&gt;&#10;&#10;  &lt;Box style={{ flexDirection: 'column', marginTop: 22 }}&gt;&#10;    &lt;Box style={{ flexDirection: 'row', alignItems: 'center', height: 104, borderBottom: '1px solid #E2E8F0' }}&gt;&#10;      &lt;Text style={{ width: 148, fontSize: 13, fontWeight: 'bold', color: '#2563EB', letterSpacing: 1.6 }}&gt;SITUATION&lt;/Text&gt;&#10;      &lt;Text style={{ flex: 1, fontSize: 19, color: '#1E293B', lineHeight: 1.55 }}&gt;&#10;        Malaysian SMEs chase overdue invoices by memory — about &lt;span style={{ fontWeight: 'bold' }}&gt;12 minutes&lt;/span&gt; per&#10;        reminder, and the record dies with the owner's phone.&#10;      &lt;/Text&gt;&#10;    &lt;/Box&gt;&#10;&#10;    &lt;Box style={{ flexDirection: 'row', alignItems: 'center', height: 104, borderBottom: '1px solid #E2E8F0' }}&gt;&#10;      &lt;Text style={{ width: 148, fontSize: 13, fontWeight: 'bold', color: '#2563EB', letterSpacing: 1.6 }}&gt;COMPLICATION&lt;/Text&gt;&#10;      &lt;Text style={{ flex: 1, fontSize: 19, color: '#1E293B', lineHeight: 1.55 }}&gt;&#10;        It is already automated at the invoice level. It fails at the &lt;span style={{ fontWeight: 'bold', color: '#2563EB' }}&gt;promise&lt;/span&gt; level:&#10;        “payday is the 30th” is said on a phone call and never written down, so the next reminder&#10;        apologises instead of quoting them.&#10;      &lt;/Text&gt;&#10;    &lt;/Box&gt;&#10;&#10;    &lt;Box style={{ flexDirection: 'row', alignItems: 'center', height: 104, borderBottom: '1px solid #E2E8F0' }}&gt;&#10;      &lt;Text style={{ width: 148, fontSize: 13, fontWeight: 'bold', color: '#2563EB', letterSpacing: 1.6 }}&gt;RESOLUTION&lt;/Text&gt;&#10;      &lt;Text style={{ flex: 1, fontSize: 19, color: '#1E293B', lineHeight: 1.55 }}&gt;&#10;        CollectLoop keeps a promise ledger. It drafts a message &lt;span style={{ fontWeight: 'bold' }}&gt;only when the promise is gone&lt;/span&gt;,&#10;        and stays silent while it still holds.&#10;      &lt;/Text&gt;&#10;    &lt;/Box&gt;&#10;&#10;    &lt;Box style={{ flexDirection: 'row', alignItems: 'center', height: 104, borderBottom: '1px solid #E2E8F0' }}&gt;&#10;      &lt;Text style={{ width: 148, fontSize: 13, fontWeight: 'bold', color: '#2563EB', letterSpacing: 1.6 }}&gt;PROOF&lt;/Text&gt;&#10;      &lt;Text style={{ flex: 1, fontSize: 19, color: '#1E293B', lineHeight: 1.55 }}&gt;&#10;        One click, five stages, &lt;span style={{ fontWeight: 'bold' }}&gt;one draft per broken promise&lt;/span&gt; and&#10;        &lt;span style={{ fontWeight: 'bold' }}&gt; zero per open one&lt;/span&gt;. Runs live on a public URL.&#10;      &lt;/Text&gt;&#10;    &lt;/Box&gt;&#10;&#10;    &lt;Box style={{ flexDirection: 'row', alignItems: 'center', height: 104 }}&gt;&#10;      &lt;Text style={{ width: 148, fontSize: 13, fontWeight: 'bold', color: '#2563EB', letterSpacing: 1.6 }}&gt;BUSINESS&lt;/Text&gt;&#10;      &lt;Text style={{ flex: 1, fontSize: 19, color: '#1E293B', lineHeight: 1.55 }}&gt;&#10;        A module inside Orbyte, priced by invoice volume. Seven fewer days in the collection cycle is&#10;        cash already earned — &lt;span style={{ fontWeight: 'bold' }}&gt;SDG 8&lt;/span&gt;.&#10;      &lt;/Text&gt;&#10;    &lt;/Box&gt;&#10;  &lt;/Box&gt;&#10;&#10;  &lt;Text style={{ position: 'absolute', left: 60, bottom: 20, fontSize: 14, color: '#94A3B8' }}&gt;CollectLoop · RREF COLLECTION&lt;/Text&gt;&#10;  &lt;Text style={{ position: 'absolute', right: 60, bottom: 20, fontSize: 15, color: '#94A3B8' }}&gt;02&lt;/Text&gt;&#10;&lt;/Slide&gt;&#10;"/>
        <p:cNvGrpSpPr/>
        <p:nvPr/>
      </p:nvGrpSpPr>
      <p:grpSpPr>
        <a:xfrm>
          <a:off x="0" y="0"/>
          <a:ext cx="0" cy="0"/>
          <a:chOff x="0" y="0"/>
          <a:chExt cx="0" cy="0"/>
        </a:xfrm>
      </p:grpSpPr>
      <p:sp>
        <p:nvSpPr>
          <p:cNvPr id="12" name=""/>
          <p:cNvSpPr/>
          <p:nvPr/>
        </p:nvSpPr>
        <p:spPr>
          <a:xfrm rot="0" flipH="0" flipV="0">
            <a:off x="0" y="0"/>
            <a:ext cx="12192000" cy="6858000"/>
          </a:xfrm>
          <a:prstGeom prst="rect">
            <a:avLst/>
          </a:prstGeom>
          <a:solidFill>
            <a:srgbClr val="FFFFFF"/>
          </a:solidFill>
          <a:ln/>
        </p:spPr>
        <p:txBody>
          <a:bodyPr/>
          <a:p/>
        </p:txBody>
      </p:sp>
      <p:sp>
        <p:nvSpPr>
          <p:cNvPr id="13" name="" descr="{&quot;isTemplate&quot;:true,&quot;type&quot;:&quot;text&quot;}"/>
          <p:cNvSpPr txBox="1"/>
          <p:nvPr/>
        </p:nvSpPr>
        <p:spPr>
          <a:xfrm rot="0" flipH="0" flipV="0">
            <a:off x="571500" y="571500"/>
            <a:ext cx="11049000" cy="466725"/>
          </a:xfrm>
          <a:prstGeom prst="rect"/>
        </p:spPr>
        <p:txBody>
          <a:bodyPr wrap="none" lIns="0" tIns="0" rIns="0" bIns="0"/>
          <a:p>
            <a:pPr>
              <a:lnSpc>
                <a:spcPct val="118000"/>
              </a:lnSpc>
            </a:pPr>
            <a:r>
              <a:rPr lang="en-US" sz="2550" b="1" spc="-45">
                <a:solidFill>
                  <a:srgbClr val="0F172A"/>
                </a:solidFill>
                <a:latin typeface="Arial"/>
                <a:ea typeface="Arial"/>
              </a:rPr>
              <a:t>Five lines. Every slide after this one defends one of them.</a:t>
            </a:r>
            <a:endParaRPr/>
          </a:p>
        </p:txBody>
      </p:sp>
      <p:sp>
        <p:nvSpPr>
          <p:cNvPr id="14" name=""/>
          <p:cNvSpPr/>
          <p:nvPr/>
        </p:nvSpPr>
        <p:spPr>
          <a:xfrm rot="0" flipH="0" flipV="0">
            <a:off x="571500" y="1190625"/>
            <a:ext cx="11049000" cy="9525"/>
          </a:xfrm>
          <a:prstGeom prst="rect">
            <a:avLst/>
          </a:prstGeom>
          <a:solidFill>
            <a:srgbClr val="E2E8F0"/>
          </a:solidFill>
          <a:ln/>
        </p:spPr>
        <p:txBody>
          <a:bodyPr/>
          <a:p/>
        </p:txBody>
      </p:sp>
      <p:sp>
        <p:nvSpPr>
          <p:cNvPr id="15" name=""/>
          <p:cNvSpPr/>
          <p:nvPr/>
        </p:nvSpPr>
        <p:spPr>
          <a:xfrm rot="0" flipH="0" flipV="0">
            <a:off x="571500" y="1409700"/>
            <a:ext cx="11049000" cy="990600"/>
          </a:xfrm>
          <a:custGeom>
            <a:pathLst>
              <a:path w="1160" h="104">
                <a:moveTo>
                  <a:pt x="0" y="103"/>
                </a:moveTo>
                <a:lnTo>
                  <a:pt x="1160" y="103"/>
                </a:lnTo>
                <a:lnTo>
                  <a:pt x="1160" y="104"/>
                </a:lnTo>
                <a:lnTo>
                  <a:pt x="0" y="104"/>
                </a:lnTo>
                <a:close/>
              </a:path>
            </a:pathLst>
          </a:custGeom>
          <a:solidFill>
            <a:srgbClr val="E2E8F0"/>
          </a:solidFill>
          <a:ln/>
        </p:spPr>
        <p:txBody>
          <a:bodyPr/>
          <a:p/>
        </p:txBody>
      </p:sp>
      <p:sp>
        <p:nvSpPr>
          <p:cNvPr id="16" name="" descr="{&quot;isTemplate&quot;:true,&quot;type&quot;:&quot;text&quot;}"/>
          <p:cNvSpPr txBox="1"/>
          <p:nvPr/>
        </p:nvSpPr>
        <p:spPr>
          <a:xfrm rot="0" flipH="0" flipV="0">
            <a:off x="571500" y="1828800"/>
            <a:ext cx="1409700" cy="152400"/>
          </a:xfrm>
          <a:prstGeom prst="rect"/>
        </p:spPr>
        <p:txBody>
          <a:bodyPr wrap="none" lIns="0" tIns="0" rIns="0" bIns="0"/>
          <a:p>
            <a:pPr>
              <a:lnSpc>
                <a:spcPct val="100000"/>
              </a:lnSpc>
            </a:pPr>
            <a:r>
              <a:rPr lang="en-US" sz="975" b="1" spc="120">
                <a:solidFill>
                  <a:srgbClr val="2563EB"/>
                </a:solidFill>
                <a:latin typeface="Arial"/>
                <a:ea typeface="Arial"/>
              </a:rPr>
              <a:t>SITUATION</a:t>
            </a:r>
            <a:endParaRPr/>
          </a:p>
        </p:txBody>
      </p:sp>
      <p:sp>
        <p:nvSpPr>
          <p:cNvPr id="17" name="" descr="{&quot;isTemplate&quot;:true,&quot;type&quot;:&quot;text&quot;}"/>
          <p:cNvSpPr txBox="1"/>
          <p:nvPr/>
        </p:nvSpPr>
        <p:spPr>
          <a:xfrm rot="0" flipH="0" flipV="0">
            <a:off x="1981200" y="1562100"/>
            <a:ext cx="9639300" cy="676275"/>
          </a:xfrm>
          <a:prstGeom prst="rect"/>
        </p:spPr>
        <p:txBody>
          <a:bodyPr wrap="square" lIns="0" tIns="0" rIns="0" bIns="0">
            <a:normAutofit/>
          </a:bodyPr>
          <a:p>
            <a:pPr>
              <a:lnSpc>
                <a:spcPct val="155000"/>
              </a:lnSpc>
            </a:pPr>
            <a:r>
              <a:rPr lang="en-US" sz="1425">
                <a:solidFill>
                  <a:srgbClr val="1E293B"/>
                </a:solidFill>
                <a:latin typeface="Arial"/>
                <a:ea typeface="Arial"/>
              </a:rPr>
              <a:t xml:space="preserve">Malaysian SMEs chase overdue invoices by memory — about </a:t>
            </a:r>
            <a:r>
              <a:rPr lang="en-US" sz="1425" b="1">
                <a:solidFill>
                  <a:srgbClr val="1E293B"/>
                </a:solidFill>
                <a:latin typeface="Arial"/>
                <a:ea typeface="Arial"/>
              </a:rPr>
              <a:t>12 minutes</a:t>
            </a:r>
            <a:r>
              <a:rPr lang="en-US" sz="1425">
                <a:solidFill>
                  <a:srgbClr val="1E293B"/>
                </a:solidFill>
                <a:latin typeface="Arial"/>
                <a:ea typeface="Arial"/>
              </a:rPr>
              <a:t xml:space="preserve"> per reminder, and the record dies with the owner's phone.</a:t>
            </a:r>
            <a:endParaRPr/>
          </a:p>
        </p:txBody>
      </p:sp>
      <p:sp>
        <p:nvSpPr>
          <p:cNvPr id="18" name=""/>
          <p:cNvSpPr/>
          <p:nvPr/>
        </p:nvSpPr>
        <p:spPr>
          <a:xfrm rot="0" flipH="0" flipV="0">
            <a:off x="571500" y="2400300"/>
            <a:ext cx="11049000" cy="990600"/>
          </a:xfrm>
          <a:custGeom>
            <a:pathLst>
              <a:path w="1160" h="104">
                <a:moveTo>
                  <a:pt x="0" y="103"/>
                </a:moveTo>
                <a:lnTo>
                  <a:pt x="1160" y="103"/>
                </a:lnTo>
                <a:lnTo>
                  <a:pt x="1160" y="104"/>
                </a:lnTo>
                <a:lnTo>
                  <a:pt x="0" y="104"/>
                </a:lnTo>
                <a:close/>
              </a:path>
            </a:pathLst>
          </a:custGeom>
          <a:solidFill>
            <a:srgbClr val="E2E8F0"/>
          </a:solidFill>
          <a:ln/>
        </p:spPr>
        <p:txBody>
          <a:bodyPr/>
          <a:p/>
        </p:txBody>
      </p:sp>
      <p:sp>
        <p:nvSpPr>
          <p:cNvPr id="19" name="" descr="{&quot;isTemplate&quot;:true,&quot;type&quot;:&quot;text&quot;}"/>
          <p:cNvSpPr txBox="1"/>
          <p:nvPr/>
        </p:nvSpPr>
        <p:spPr>
          <a:xfrm rot="0" flipH="0" flipV="0">
            <a:off x="571500" y="2819400"/>
            <a:ext cx="1409700" cy="152400"/>
          </a:xfrm>
          <a:prstGeom prst="rect"/>
        </p:spPr>
        <p:txBody>
          <a:bodyPr wrap="none" lIns="0" tIns="0" rIns="0" bIns="0"/>
          <a:p>
            <a:pPr>
              <a:lnSpc>
                <a:spcPct val="100000"/>
              </a:lnSpc>
            </a:pPr>
            <a:r>
              <a:rPr lang="en-US" sz="975" b="1" spc="120">
                <a:solidFill>
                  <a:srgbClr val="2563EB"/>
                </a:solidFill>
                <a:latin typeface="Arial"/>
                <a:ea typeface="Arial"/>
              </a:rPr>
              <a:t>COMPLICATION</a:t>
            </a:r>
            <a:endParaRPr/>
          </a:p>
        </p:txBody>
      </p:sp>
      <p:sp>
        <p:nvSpPr>
          <p:cNvPr id="20" name="" descr="{&quot;isTemplate&quot;:true,&quot;type&quot;:&quot;text&quot;}"/>
          <p:cNvSpPr txBox="1"/>
          <p:nvPr/>
        </p:nvSpPr>
        <p:spPr>
          <a:xfrm rot="0" flipH="0" flipV="0">
            <a:off x="1981200" y="2552700"/>
            <a:ext cx="9639300" cy="676275"/>
          </a:xfrm>
          <a:prstGeom prst="rect"/>
        </p:spPr>
        <p:txBody>
          <a:bodyPr wrap="square" lIns="0" tIns="0" rIns="0" bIns="0">
            <a:normAutofit/>
          </a:bodyPr>
          <a:p>
            <a:pPr>
              <a:lnSpc>
                <a:spcPct val="155000"/>
              </a:lnSpc>
            </a:pPr>
            <a:r>
              <a:rPr lang="en-US" sz="1425">
                <a:solidFill>
                  <a:srgbClr val="1E293B"/>
                </a:solidFill>
                <a:latin typeface="Arial"/>
                <a:ea typeface="Arial"/>
              </a:rPr>
              <a:t xml:space="preserve">It is already automated at the invoice level. It fails at the </a:t>
            </a:r>
            <a:r>
              <a:rPr lang="en-US" sz="1425" b="1">
                <a:solidFill>
                  <a:srgbClr val="2563EB"/>
                </a:solidFill>
                <a:latin typeface="Arial"/>
                <a:ea typeface="Arial"/>
              </a:rPr>
              <a:t>promise</a:t>
            </a:r>
            <a:r>
              <a:rPr lang="en-US" sz="1425">
                <a:solidFill>
                  <a:srgbClr val="1E293B"/>
                </a:solidFill>
                <a:latin typeface="Arial"/>
                <a:ea typeface="Arial"/>
              </a:rPr>
              <a:t xml:space="preserve"> level: “payday is the 30th” is said on a phone call and never written down, so the next reminder apologises instead of quoting them.</a:t>
            </a:r>
            <a:endParaRPr/>
          </a:p>
        </p:txBody>
      </p:sp>
      <p:sp>
        <p:nvSpPr>
          <p:cNvPr id="21" name=""/>
          <p:cNvSpPr/>
          <p:nvPr/>
        </p:nvSpPr>
        <p:spPr>
          <a:xfrm rot="0" flipH="0" flipV="0">
            <a:off x="571500" y="3390900"/>
            <a:ext cx="11049000" cy="990600"/>
          </a:xfrm>
          <a:custGeom>
            <a:pathLst>
              <a:path w="1160" h="104">
                <a:moveTo>
                  <a:pt x="0" y="103"/>
                </a:moveTo>
                <a:lnTo>
                  <a:pt x="1160" y="103"/>
                </a:lnTo>
                <a:lnTo>
                  <a:pt x="1160" y="104"/>
                </a:lnTo>
                <a:lnTo>
                  <a:pt x="0" y="104"/>
                </a:lnTo>
                <a:close/>
              </a:path>
            </a:pathLst>
          </a:custGeom>
          <a:solidFill>
            <a:srgbClr val="E2E8F0"/>
          </a:solidFill>
          <a:ln/>
        </p:spPr>
        <p:txBody>
          <a:bodyPr/>
          <a:p/>
        </p:txBody>
      </p:sp>
      <p:sp>
        <p:nvSpPr>
          <p:cNvPr id="22" name="" descr="{&quot;isTemplate&quot;:true,&quot;type&quot;:&quot;text&quot;}"/>
          <p:cNvSpPr txBox="1"/>
          <p:nvPr/>
        </p:nvSpPr>
        <p:spPr>
          <a:xfrm rot="0" flipH="0" flipV="0">
            <a:off x="571500" y="3810000"/>
            <a:ext cx="1409700" cy="152400"/>
          </a:xfrm>
          <a:prstGeom prst="rect"/>
        </p:spPr>
        <p:txBody>
          <a:bodyPr wrap="none" lIns="0" tIns="0" rIns="0" bIns="0"/>
          <a:p>
            <a:pPr>
              <a:lnSpc>
                <a:spcPct val="100000"/>
              </a:lnSpc>
            </a:pPr>
            <a:r>
              <a:rPr lang="en-US" sz="975" b="1" spc="120">
                <a:solidFill>
                  <a:srgbClr val="2563EB"/>
                </a:solidFill>
                <a:latin typeface="Arial"/>
                <a:ea typeface="Arial"/>
              </a:rPr>
              <a:t>RESOLUTION</a:t>
            </a:r>
            <a:endParaRPr/>
          </a:p>
        </p:txBody>
      </p:sp>
      <p:sp>
        <p:nvSpPr>
          <p:cNvPr id="23" name="" descr="{&quot;isTemplate&quot;:true,&quot;type&quot;:&quot;text&quot;}"/>
          <p:cNvSpPr txBox="1"/>
          <p:nvPr/>
        </p:nvSpPr>
        <p:spPr>
          <a:xfrm rot="0" flipH="0" flipV="0">
            <a:off x="1981200" y="3543300"/>
            <a:ext cx="9639300" cy="676275"/>
          </a:xfrm>
          <a:prstGeom prst="rect"/>
        </p:spPr>
        <p:txBody>
          <a:bodyPr wrap="square" lIns="0" tIns="0" rIns="0" bIns="0">
            <a:normAutofit/>
          </a:bodyPr>
          <a:p>
            <a:pPr>
              <a:lnSpc>
                <a:spcPct val="155000"/>
              </a:lnSpc>
            </a:pPr>
            <a:r>
              <a:rPr lang="en-US" sz="1425">
                <a:solidFill>
                  <a:srgbClr val="1E293B"/>
                </a:solidFill>
                <a:latin typeface="Arial"/>
                <a:ea typeface="Arial"/>
              </a:rPr>
              <a:t xml:space="preserve">CollectLoop keeps a promise ledger. It drafts a message </a:t>
            </a:r>
            <a:r>
              <a:rPr lang="en-US" sz="1425" b="1">
                <a:solidFill>
                  <a:srgbClr val="1E293B"/>
                </a:solidFill>
                <a:latin typeface="Arial"/>
                <a:ea typeface="Arial"/>
              </a:rPr>
              <a:t>only when the promise is gone</a:t>
            </a:r>
            <a:r>
              <a:rPr lang="en-US" sz="1425">
                <a:solidFill>
                  <a:srgbClr val="1E293B"/>
                </a:solidFill>
                <a:latin typeface="Arial"/>
                <a:ea typeface="Arial"/>
              </a:rPr>
              <a:t>, and stays silent while it still holds.</a:t>
            </a:r>
            <a:endParaRPr/>
          </a:p>
        </p:txBody>
      </p:sp>
      <p:sp>
        <p:nvSpPr>
          <p:cNvPr id="24" name=""/>
          <p:cNvSpPr/>
          <p:nvPr/>
        </p:nvSpPr>
        <p:spPr>
          <a:xfrm rot="0" flipH="0" flipV="0">
            <a:off x="571500" y="4381500"/>
            <a:ext cx="11049000" cy="990600"/>
          </a:xfrm>
          <a:custGeom>
            <a:pathLst>
              <a:path w="1160" h="104">
                <a:moveTo>
                  <a:pt x="0" y="103"/>
                </a:moveTo>
                <a:lnTo>
                  <a:pt x="1160" y="103"/>
                </a:lnTo>
                <a:lnTo>
                  <a:pt x="1160" y="104"/>
                </a:lnTo>
                <a:lnTo>
                  <a:pt x="0" y="104"/>
                </a:lnTo>
                <a:close/>
              </a:path>
            </a:pathLst>
          </a:custGeom>
          <a:solidFill>
            <a:srgbClr val="E2E8F0"/>
          </a:solidFill>
          <a:ln/>
        </p:spPr>
        <p:txBody>
          <a:bodyPr/>
          <a:p/>
        </p:txBody>
      </p:sp>
      <p:sp>
        <p:nvSpPr>
          <p:cNvPr id="25" name="" descr="{&quot;isTemplate&quot;:true,&quot;type&quot;:&quot;text&quot;}"/>
          <p:cNvSpPr txBox="1"/>
          <p:nvPr/>
        </p:nvSpPr>
        <p:spPr>
          <a:xfrm rot="0" flipH="0" flipV="0">
            <a:off x="571500" y="4800600"/>
            <a:ext cx="1409700" cy="152400"/>
          </a:xfrm>
          <a:prstGeom prst="rect"/>
        </p:spPr>
        <p:txBody>
          <a:bodyPr wrap="none" lIns="0" tIns="0" rIns="0" bIns="0"/>
          <a:p>
            <a:pPr>
              <a:lnSpc>
                <a:spcPct val="100000"/>
              </a:lnSpc>
            </a:pPr>
            <a:r>
              <a:rPr lang="en-US" sz="975" b="1" spc="120">
                <a:solidFill>
                  <a:srgbClr val="2563EB"/>
                </a:solidFill>
                <a:latin typeface="Arial"/>
                <a:ea typeface="Arial"/>
              </a:rPr>
              <a:t>PROOF</a:t>
            </a:r>
            <a:endParaRPr/>
          </a:p>
        </p:txBody>
      </p:sp>
      <p:sp>
        <p:nvSpPr>
          <p:cNvPr id="26" name="" descr="{&quot;isTemplate&quot;:true,&quot;type&quot;:&quot;text&quot;}"/>
          <p:cNvSpPr txBox="1"/>
          <p:nvPr/>
        </p:nvSpPr>
        <p:spPr>
          <a:xfrm rot="0" flipH="0" flipV="0">
            <a:off x="1981200" y="4705350"/>
            <a:ext cx="9639300" cy="342900"/>
          </a:xfrm>
          <a:prstGeom prst="rect"/>
        </p:spPr>
        <p:txBody>
          <a:bodyPr wrap="none" lIns="0" tIns="0" rIns="0" bIns="0"/>
          <a:p>
            <a:pPr>
              <a:lnSpc>
                <a:spcPct val="155000"/>
              </a:lnSpc>
            </a:pPr>
            <a:r>
              <a:rPr lang="en-US" sz="1425">
                <a:solidFill>
                  <a:srgbClr val="1E293B"/>
                </a:solidFill>
                <a:latin typeface="Arial"/>
                <a:ea typeface="Arial"/>
              </a:rPr>
              <a:t xml:space="preserve">One click, five stages, </a:t>
            </a:r>
            <a:r>
              <a:rPr lang="en-US" sz="1425" b="1">
                <a:solidFill>
                  <a:srgbClr val="1E293B"/>
                </a:solidFill>
                <a:latin typeface="Arial"/>
                <a:ea typeface="Arial"/>
              </a:rPr>
              <a:t>one draft per broken promise</a:t>
            </a:r>
            <a:r>
              <a:rPr lang="en-US" sz="1425">
                <a:solidFill>
                  <a:srgbClr val="1E293B"/>
                </a:solidFill>
                <a:latin typeface="Arial"/>
                <a:ea typeface="Arial"/>
              </a:rPr>
              <a:t xml:space="preserve"> and</a:t>
            </a:r>
            <a:r>
              <a:rPr lang="en-US" sz="1425" b="1">
                <a:solidFill>
                  <a:srgbClr val="1E293B"/>
                </a:solidFill>
                <a:latin typeface="Arial"/>
                <a:ea typeface="Arial"/>
              </a:rPr>
              <a:t xml:space="preserve"> zero per open one</a:t>
            </a:r>
            <a:r>
              <a:rPr lang="en-US" sz="1425">
                <a:solidFill>
                  <a:srgbClr val="1E293B"/>
                </a:solidFill>
                <a:latin typeface="Arial"/>
                <a:ea typeface="Arial"/>
              </a:rPr>
              <a:t>. Runs live on a public URL.</a:t>
            </a:r>
            <a:endParaRPr/>
          </a:p>
        </p:txBody>
      </p:sp>
      <p:sp>
        <p:nvSpPr>
          <p:cNvPr id="27" name="" descr="{&quot;isTemplate&quot;:true,&quot;type&quot;:&quot;text&quot;}"/>
          <p:cNvSpPr txBox="1"/>
          <p:nvPr/>
        </p:nvSpPr>
        <p:spPr>
          <a:xfrm rot="0" flipH="0" flipV="0">
            <a:off x="571500" y="5791200"/>
            <a:ext cx="1409700" cy="152400"/>
          </a:xfrm>
          <a:prstGeom prst="rect"/>
        </p:spPr>
        <p:txBody>
          <a:bodyPr wrap="none" lIns="0" tIns="0" rIns="0" bIns="0"/>
          <a:p>
            <a:pPr>
              <a:lnSpc>
                <a:spcPct val="100000"/>
              </a:lnSpc>
            </a:pPr>
            <a:r>
              <a:rPr lang="en-US" sz="975" b="1" spc="120">
                <a:solidFill>
                  <a:srgbClr val="2563EB"/>
                </a:solidFill>
                <a:latin typeface="Arial"/>
                <a:ea typeface="Arial"/>
              </a:rPr>
              <a:t>BUSINESS</a:t>
            </a:r>
            <a:endParaRPr/>
          </a:p>
        </p:txBody>
      </p:sp>
      <p:sp>
        <p:nvSpPr>
          <p:cNvPr id="28" name="" descr="{&quot;isTemplate&quot;:true,&quot;type&quot;:&quot;text&quot;}"/>
          <p:cNvSpPr txBox="1"/>
          <p:nvPr/>
        </p:nvSpPr>
        <p:spPr>
          <a:xfrm rot="0" flipH="0" flipV="0">
            <a:off x="1981200" y="5534025"/>
            <a:ext cx="9639300" cy="676275"/>
          </a:xfrm>
          <a:prstGeom prst="rect"/>
        </p:spPr>
        <p:txBody>
          <a:bodyPr wrap="square" lIns="0" tIns="0" rIns="0" bIns="0">
            <a:normAutofit/>
          </a:bodyPr>
          <a:p>
            <a:pPr>
              <a:lnSpc>
                <a:spcPct val="155000"/>
              </a:lnSpc>
            </a:pPr>
            <a:r>
              <a:rPr lang="en-US" sz="1425">
                <a:solidFill>
                  <a:srgbClr val="1E293B"/>
                </a:solidFill>
                <a:latin typeface="Arial"/>
                <a:ea typeface="Arial"/>
              </a:rPr>
              <a:t xml:space="preserve">A module inside Orbyte, priced by invoice volume. Seven fewer days in the collection cycle is cash already earned — </a:t>
            </a:r>
            <a:r>
              <a:rPr lang="en-US" sz="1425" b="1">
                <a:solidFill>
                  <a:srgbClr val="1E293B"/>
                </a:solidFill>
                <a:latin typeface="Arial"/>
                <a:ea typeface="Arial"/>
              </a:rPr>
              <a:t>SDG 8</a:t>
            </a:r>
            <a:r>
              <a:rPr lang="en-US" sz="1425">
                <a:solidFill>
                  <a:srgbClr val="1E293B"/>
                </a:solidFill>
                <a:latin typeface="Arial"/>
                <a:ea typeface="Arial"/>
              </a:rPr>
              <a:t>.</a:t>
            </a:r>
            <a:endParaRPr/>
          </a:p>
        </p:txBody>
      </p:sp>
      <p:sp>
        <p:nvSpPr>
          <p:cNvPr id="29" name="" descr="{&quot;isTemplate&quot;:true,&quot;type&quot;:&quot;text&quot;}"/>
          <p:cNvSpPr txBox="1"/>
          <p:nvPr/>
        </p:nvSpPr>
        <p:spPr>
          <a:xfrm rot="0" flipH="0" flipV="0">
            <a:off x="571500" y="6505575"/>
            <a:ext cx="2076450" cy="161925"/>
          </a:xfrm>
          <a:prstGeom prst="rect"/>
        </p:spPr>
        <p:txBody>
          <a:bodyPr wrap="none" lIns="0" tIns="0" rIns="0" bIns="0"/>
          <a:p>
            <a:pPr>
              <a:lnSpc>
                <a:spcPct val="100000"/>
              </a:lnSpc>
            </a:pPr>
            <a:r>
              <a:rPr lang="en-US" sz="1050">
                <a:solidFill>
                  <a:srgbClr val="94A3B8"/>
                </a:solidFill>
                <a:latin typeface="Arial"/>
                <a:ea typeface="Arial"/>
              </a:rPr>
              <a:t>CollectLoop · RREF COLLECTION</a:t>
            </a:r>
            <a:endParaRPr/>
          </a:p>
        </p:txBody>
      </p:sp>
      <p:sp>
        <p:nvSpPr>
          <p:cNvPr id="30" name="" descr="{&quot;isTemplate&quot;:true,&quot;type&quot;:&quot;text&quot;}"/>
          <p:cNvSpPr txBox="1"/>
          <p:nvPr/>
        </p:nvSpPr>
        <p:spPr>
          <a:xfrm rot="0" flipH="0" flipV="0">
            <a:off x="11458575" y="6496050"/>
            <a:ext cx="161925" cy="171450"/>
          </a:xfrm>
          <a:prstGeom prst="rect"/>
        </p:spPr>
        <p:txBody>
          <a:bodyPr wrap="none" lIns="0" tIns="0" rIns="0" bIns="0"/>
          <a:p>
            <a:pPr>
              <a:lnSpc>
                <a:spcPct val="100000"/>
              </a:lnSpc>
            </a:pPr>
            <a:r>
              <a:rPr lang="en-US" sz="1125">
                <a:solidFill>
                  <a:srgbClr val="94A3B8"/>
                </a:solidFill>
                <a:latin typeface="Arial"/>
                <a:ea typeface="Arial"/>
              </a:rPr>
              <a:t>02</a:t>
            </a:r>
            <a:endParaRPr/>
          </a:p>
        </p:txBody>
      </p:sp>
    </p:spTree>
  </p:cSld>
</p:sld>
</file>

<file path=ppt/slides/slide3.xml><?xml version="1.0" encoding="utf-8"?>
<p:sld xmlns:p="http://schemas.openxmlformats.org/presentationml/2006/main" xmlns:a="http://schemas.openxmlformats.org/drawingml/2006/main">
  <p:cSld>
    <p:spTree>
      <p:nvGrpSpPr>
        <p:cNvPr id="31" name="" descr="&lt;Slide style={{ width: 1280, height: 720, padding: 60, background: '#FFFFFF', fontFamily: 'Arial', flexDirection: 'column' }}&gt;&#10;  &lt;Text style={{ fontSize: 34, fontWeight: 'bold', color: '#0F172A', lineHeight: 1.18, letterSpacing: -0.6 }}&gt;&#10;    The promise already exists. It never reaches the system that needs it.&#10;  &lt;/Text&gt;&#10;  &lt;Box style={{ height: 1, background: '#E2E8F0', marginTop: 16 }} /&gt;&#10;&#10;  &lt;Box style={{ flexDirection: 'row', gap: 30, marginTop: 30, height: 286 }}&gt;&#10;    &lt;Box style={{ width: 418, flexDirection: 'column', borderTop: '3px solid #CBD5E1', paddingTop: 18 }}&gt;&#10;      &lt;Text style={{ fontSize: 40, fontWeight: 'bold', color: '#CBD5E1', lineHeight: 1.1 }}&gt;01&lt;/Text&gt;&#10;      &lt;Text style={{ fontSize: 13, fontWeight: 'bold', color: '#2563EB', letterSpacing: 1.6, marginTop: 14 }}&gt;CUSTOMER SAYS&lt;/Text&gt;&#10;      &lt;Text style={{ fontSize: 20, color: '#1E293B', lineHeight: 1.55, marginTop: 12 }}&gt;&#10;        “Cheque's being prepared, will bank in by Monday.”&#10;      &lt;/Text&gt;&#10;      &lt;Text style={{ fontSize: 15, color: '#64748B', lineHeight: 1.45, marginTop: 10 }}&gt;WhatsApp, Tuesday 14:20&lt;/Text&gt;&#10;    &lt;/Box&gt;&#10;&#10;    &lt;Box style={{ width: 320, flexDirection: 'column', borderTop: '3px solid #CBD5E1', paddingTop: 18 }}&gt;&#10;      &lt;Text style={{ fontSize: 40, fontWeight: 'bold', color: '#CBD5E1', lineHeight: 1.1 }}&gt;02&lt;/Text&gt;&#10;      &lt;Text style={{ fontSize: 13, fontWeight: 'bold', color: '#2563EB', letterSpacing: 1.6, marginTop: 14 }}&gt;NOBODY WRITES IT DOWN&lt;/Text&gt;&#10;      &lt;Text style={{ fontSize: 20, color: '#1E293B', lineHeight: 1.55, marginTop: 12 }}&gt;&#10;        The owner remembers for four days — then forgets which Monday.&#10;      &lt;/Text&gt;&#10;    &lt;/Box&gt;&#10;&#10;    &lt;Box style={{ width: 362, flexDirection: 'column', borderTop: '3px solid #F59E0B', paddingTop: 18 }}&gt;&#10;      &lt;Text style={{ fontSize: 40, fontWeight: 'bold', color: '#F59E0B', lineHeight: 1.1 }}&gt;03&lt;/Text&gt;&#10;      &lt;Text style={{ fontSize: 13, fontWeight: 'bold', color: '#B45309', letterSpacing: 1.6, marginTop: 14 }}&gt;THE SYSTEM SENDS&lt;/Text&gt;&#10;      &lt;Text style={{ fontSize: 20, color: '#1E293B', lineHeight: 1.55, marginTop: 12 }}&gt;&#10;        “Invoice 0361 is 38 days overdue.” The customer reads it as: &lt;span style={{ fontWeight: 'bold' }}&gt;you weren't listening.&lt;/span&gt;&#10;      &lt;/Text&gt;&#10;    &lt;/Box&gt;&#10;  &lt;/Box&gt;&#10;&#10;  &lt;Box style={{ flex: 1 }} /&gt;&#10;&#10;  &lt;Box style={{ height: 118, background: '#EFF6FF', borderRadius: 8, padding: '22px 26px', flexDirection: 'column', justifyContent: 'center' }}&gt;&#10;    &lt;Text style={{ fontSize: 21, color: '#0F172A', lineHeight: 1.5 }}&gt;&#10;      The cost is not the letter. It is a badly timed chase spending goodwill you cannot buy back —&#10;      and quiet customers pay last.&#10;    &lt;/Text&gt;&#10;  &lt;/Box&gt;&#10;&#10;  &lt;Text style={{ position: 'absolute', left: 60, bottom: 20, fontSize: 14, color: '#94A3B8' }}&gt;CollectLoop · RREF COLLECTION&lt;/Text&gt;&#10;  &lt;Text style={{ position: 'absolute', right: 60, bottom: 20, fontSize: 15, color: '#94A3B8' }}&gt;03&lt;/Text&gt;&#10;&lt;/Slide&gt;&#10;"/>
        <p:cNvGrpSpPr/>
        <p:nvPr/>
      </p:nvGrpSpPr>
      <p:grpSpPr>
        <a:xfrm>
          <a:off x="0" y="0"/>
          <a:ext cx="0" cy="0"/>
          <a:chOff x="0" y="0"/>
          <a:chExt cx="0" cy="0"/>
        </a:xfrm>
      </p:grpSpPr>
      <p:sp>
        <p:nvSpPr>
          <p:cNvPr id="32" name=""/>
          <p:cNvSpPr/>
          <p:nvPr/>
        </p:nvSpPr>
        <p:spPr>
          <a:xfrm rot="0" flipH="0" flipV="0">
            <a:off x="0" y="0"/>
            <a:ext cx="12192000" cy="6858000"/>
          </a:xfrm>
          <a:prstGeom prst="rect">
            <a:avLst/>
          </a:prstGeom>
          <a:solidFill>
            <a:srgbClr val="FFFFFF"/>
          </a:solidFill>
          <a:ln/>
        </p:spPr>
        <p:txBody>
          <a:bodyPr/>
          <a:p/>
        </p:txBody>
      </p:sp>
      <p:sp>
        <p:nvSpPr>
          <p:cNvPr id="33" name="" descr="{&quot;isTemplate&quot;:true,&quot;type&quot;:&quot;text&quot;}"/>
          <p:cNvSpPr txBox="1"/>
          <p:nvPr/>
        </p:nvSpPr>
        <p:spPr>
          <a:xfrm rot="0" flipH="0" flipV="0">
            <a:off x="571500" y="571500"/>
            <a:ext cx="11049000" cy="466725"/>
          </a:xfrm>
          <a:prstGeom prst="rect"/>
        </p:spPr>
        <p:txBody>
          <a:bodyPr wrap="none" lIns="0" tIns="0" rIns="0" bIns="0"/>
          <a:p>
            <a:pPr>
              <a:lnSpc>
                <a:spcPct val="118000"/>
              </a:lnSpc>
            </a:pPr>
            <a:r>
              <a:rPr lang="en-US" sz="2550" b="1" spc="-45">
                <a:solidFill>
                  <a:srgbClr val="0F172A"/>
                </a:solidFill>
                <a:latin typeface="Arial"/>
                <a:ea typeface="Arial"/>
              </a:rPr>
              <a:t>The promise already exists. It never reaches the system that needs it.</a:t>
            </a:r>
            <a:endParaRPr/>
          </a:p>
        </p:txBody>
      </p:sp>
      <p:sp>
        <p:nvSpPr>
          <p:cNvPr id="34" name=""/>
          <p:cNvSpPr/>
          <p:nvPr/>
        </p:nvSpPr>
        <p:spPr>
          <a:xfrm rot="0" flipH="0" flipV="0">
            <a:off x="571500" y="1190625"/>
            <a:ext cx="11049000" cy="9525"/>
          </a:xfrm>
          <a:prstGeom prst="rect">
            <a:avLst/>
          </a:prstGeom>
          <a:solidFill>
            <a:srgbClr val="E2E8F0"/>
          </a:solidFill>
          <a:ln/>
        </p:spPr>
        <p:txBody>
          <a:bodyPr/>
          <a:p/>
        </p:txBody>
      </p:sp>
      <p:sp>
        <p:nvSpPr>
          <p:cNvPr id="35" name=""/>
          <p:cNvSpPr/>
          <p:nvPr/>
        </p:nvSpPr>
        <p:spPr>
          <a:xfrm rot="0" flipH="0" flipV="0">
            <a:off x="571500" y="1485900"/>
            <a:ext cx="3981450" cy="2752725"/>
          </a:xfrm>
          <a:custGeom>
            <a:pathLst>
              <a:path w="418" h="289">
                <a:moveTo>
                  <a:pt x="0" y="0"/>
                </a:moveTo>
                <a:lnTo>
                  <a:pt x="418" y="0"/>
                </a:lnTo>
                <a:lnTo>
                  <a:pt x="418" y="3"/>
                </a:lnTo>
                <a:lnTo>
                  <a:pt x="0" y="3"/>
                </a:lnTo>
                <a:close/>
              </a:path>
            </a:pathLst>
          </a:custGeom>
          <a:solidFill>
            <a:srgbClr val="CBD5E1"/>
          </a:solidFill>
          <a:ln/>
        </p:spPr>
        <p:txBody>
          <a:bodyPr/>
          <a:p/>
        </p:txBody>
      </p:sp>
      <p:sp>
        <p:nvSpPr>
          <p:cNvPr id="36" name="" descr="{&quot;isTemplate&quot;:true,&quot;type&quot;:&quot;text&quot;}"/>
          <p:cNvSpPr txBox="1"/>
          <p:nvPr/>
        </p:nvSpPr>
        <p:spPr>
          <a:xfrm rot="0" flipH="0" flipV="0">
            <a:off x="571500" y="1685925"/>
            <a:ext cx="3981450" cy="504825"/>
          </a:xfrm>
          <a:prstGeom prst="rect"/>
        </p:spPr>
        <p:txBody>
          <a:bodyPr wrap="none" lIns="0" tIns="0" rIns="0" bIns="0"/>
          <a:p>
            <a:pPr>
              <a:lnSpc>
                <a:spcPct val="110000"/>
              </a:lnSpc>
            </a:pPr>
            <a:r>
              <a:rPr lang="en-US" sz="3000" b="1">
                <a:solidFill>
                  <a:srgbClr val="CBD5E1"/>
                </a:solidFill>
                <a:latin typeface="Arial"/>
                <a:ea typeface="Arial"/>
              </a:rPr>
              <a:t>01</a:t>
            </a:r>
            <a:endParaRPr/>
          </a:p>
        </p:txBody>
      </p:sp>
      <p:sp>
        <p:nvSpPr>
          <p:cNvPr id="37" name="" descr="{&quot;isTemplate&quot;:true,&quot;type&quot;:&quot;text&quot;}"/>
          <p:cNvSpPr txBox="1"/>
          <p:nvPr/>
        </p:nvSpPr>
        <p:spPr>
          <a:xfrm rot="0" flipH="0" flipV="0">
            <a:off x="571500" y="2324100"/>
            <a:ext cx="3981450" cy="152400"/>
          </a:xfrm>
          <a:prstGeom prst="rect"/>
        </p:spPr>
        <p:txBody>
          <a:bodyPr wrap="none" lIns="0" tIns="0" rIns="0" bIns="0"/>
          <a:p>
            <a:pPr>
              <a:lnSpc>
                <a:spcPct val="100000"/>
              </a:lnSpc>
            </a:pPr>
            <a:r>
              <a:rPr lang="en-US" sz="975" b="1" spc="120">
                <a:solidFill>
                  <a:srgbClr val="2563EB"/>
                </a:solidFill>
                <a:latin typeface="Arial"/>
                <a:ea typeface="Arial"/>
              </a:rPr>
              <a:t>CUSTOMER SAYS</a:t>
            </a:r>
            <a:endParaRPr/>
          </a:p>
        </p:txBody>
      </p:sp>
      <p:sp>
        <p:nvSpPr>
          <p:cNvPr id="38" name="" descr="{&quot;isTemplate&quot;:true,&quot;type&quot;:&quot;text&quot;}"/>
          <p:cNvSpPr txBox="1"/>
          <p:nvPr/>
        </p:nvSpPr>
        <p:spPr>
          <a:xfrm rot="0" flipH="0" flipV="0">
            <a:off x="571500" y="2590800"/>
            <a:ext cx="3981450" cy="714375"/>
          </a:xfrm>
          <a:prstGeom prst="rect"/>
        </p:spPr>
        <p:txBody>
          <a:bodyPr wrap="square" lIns="0" tIns="0" rIns="0" bIns="0">
            <a:normAutofit/>
          </a:bodyPr>
          <a:p>
            <a:pPr>
              <a:lnSpc>
                <a:spcPct val="155000"/>
              </a:lnSpc>
            </a:pPr>
            <a:r>
              <a:rPr lang="en-US" sz="1500">
                <a:solidFill>
                  <a:srgbClr val="1E293B"/>
                </a:solidFill>
                <a:latin typeface="Arial"/>
                <a:ea typeface="Arial"/>
              </a:rPr>
              <a:t>“Cheque's being prepared, will bank in by Monday.”</a:t>
            </a:r>
            <a:endParaRPr/>
          </a:p>
        </p:txBody>
      </p:sp>
      <p:sp>
        <p:nvSpPr>
          <p:cNvPr id="39" name="" descr="{&quot;isTemplate&quot;:true,&quot;type&quot;:&quot;text&quot;}"/>
          <p:cNvSpPr txBox="1"/>
          <p:nvPr/>
        </p:nvSpPr>
        <p:spPr>
          <a:xfrm rot="0" flipH="0" flipV="0">
            <a:off x="571500" y="3400425"/>
            <a:ext cx="3981450" cy="257175"/>
          </a:xfrm>
          <a:prstGeom prst="rect"/>
        </p:spPr>
        <p:txBody>
          <a:bodyPr wrap="none" lIns="0" tIns="0" rIns="0" bIns="0"/>
          <a:p>
            <a:pPr>
              <a:lnSpc>
                <a:spcPct val="145000"/>
              </a:lnSpc>
            </a:pPr>
            <a:r>
              <a:rPr lang="en-US" sz="1125">
                <a:solidFill>
                  <a:srgbClr val="64748B"/>
                </a:solidFill>
                <a:latin typeface="Arial"/>
                <a:ea typeface="Arial"/>
              </a:rPr>
              <a:t>WhatsApp, Tuesday 14:20</a:t>
            </a:r>
            <a:endParaRPr/>
          </a:p>
        </p:txBody>
      </p:sp>
      <p:sp>
        <p:nvSpPr>
          <p:cNvPr id="40" name=""/>
          <p:cNvSpPr/>
          <p:nvPr/>
        </p:nvSpPr>
        <p:spPr>
          <a:xfrm rot="0" flipH="0" flipV="0">
            <a:off x="4838700" y="1485900"/>
            <a:ext cx="3048000" cy="2752725"/>
          </a:xfrm>
          <a:custGeom>
            <a:pathLst>
              <a:path w="320" h="289">
                <a:moveTo>
                  <a:pt x="0" y="0"/>
                </a:moveTo>
                <a:lnTo>
                  <a:pt x="320" y="0"/>
                </a:lnTo>
                <a:lnTo>
                  <a:pt x="320" y="3"/>
                </a:lnTo>
                <a:lnTo>
                  <a:pt x="0" y="3"/>
                </a:lnTo>
                <a:close/>
              </a:path>
            </a:pathLst>
          </a:custGeom>
          <a:solidFill>
            <a:srgbClr val="CBD5E1"/>
          </a:solidFill>
          <a:ln/>
        </p:spPr>
        <p:txBody>
          <a:bodyPr/>
          <a:p/>
        </p:txBody>
      </p:sp>
      <p:sp>
        <p:nvSpPr>
          <p:cNvPr id="41" name="" descr="{&quot;isTemplate&quot;:true,&quot;type&quot;:&quot;text&quot;}"/>
          <p:cNvSpPr txBox="1"/>
          <p:nvPr/>
        </p:nvSpPr>
        <p:spPr>
          <a:xfrm rot="0" flipH="0" flipV="0">
            <a:off x="4838700" y="1685925"/>
            <a:ext cx="3048000" cy="504825"/>
          </a:xfrm>
          <a:prstGeom prst="rect"/>
        </p:spPr>
        <p:txBody>
          <a:bodyPr wrap="none" lIns="0" tIns="0" rIns="0" bIns="0"/>
          <a:p>
            <a:pPr>
              <a:lnSpc>
                <a:spcPct val="110000"/>
              </a:lnSpc>
            </a:pPr>
            <a:r>
              <a:rPr lang="en-US" sz="3000" b="1">
                <a:solidFill>
                  <a:srgbClr val="CBD5E1"/>
                </a:solidFill>
                <a:latin typeface="Arial"/>
                <a:ea typeface="Arial"/>
              </a:rPr>
              <a:t>02</a:t>
            </a:r>
            <a:endParaRPr/>
          </a:p>
        </p:txBody>
      </p:sp>
      <p:sp>
        <p:nvSpPr>
          <p:cNvPr id="42" name="" descr="{&quot;isTemplate&quot;:true,&quot;type&quot;:&quot;text&quot;}"/>
          <p:cNvSpPr txBox="1"/>
          <p:nvPr/>
        </p:nvSpPr>
        <p:spPr>
          <a:xfrm rot="0" flipH="0" flipV="0">
            <a:off x="4838700" y="2324100"/>
            <a:ext cx="3048000" cy="152400"/>
          </a:xfrm>
          <a:prstGeom prst="rect"/>
        </p:spPr>
        <p:txBody>
          <a:bodyPr wrap="none" lIns="0" tIns="0" rIns="0" bIns="0"/>
          <a:p>
            <a:pPr>
              <a:lnSpc>
                <a:spcPct val="100000"/>
              </a:lnSpc>
            </a:pPr>
            <a:r>
              <a:rPr lang="en-US" sz="975" b="1" spc="120">
                <a:solidFill>
                  <a:srgbClr val="2563EB"/>
                </a:solidFill>
                <a:latin typeface="Arial"/>
                <a:ea typeface="Arial"/>
              </a:rPr>
              <a:t>NOBODY WRITES IT DOWN</a:t>
            </a:r>
            <a:endParaRPr/>
          </a:p>
        </p:txBody>
      </p:sp>
      <p:sp>
        <p:nvSpPr>
          <p:cNvPr id="43" name="" descr="{&quot;isTemplate&quot;:true,&quot;type&quot;:&quot;text&quot;}"/>
          <p:cNvSpPr txBox="1"/>
          <p:nvPr/>
        </p:nvSpPr>
        <p:spPr>
          <a:xfrm rot="0" flipH="0" flipV="0">
            <a:off x="4838700" y="2590800"/>
            <a:ext cx="3048000" cy="714375"/>
          </a:xfrm>
          <a:prstGeom prst="rect"/>
        </p:spPr>
        <p:txBody>
          <a:bodyPr wrap="square" lIns="0" tIns="0" rIns="0" bIns="0">
            <a:normAutofit/>
          </a:bodyPr>
          <a:p>
            <a:pPr>
              <a:lnSpc>
                <a:spcPct val="155000"/>
              </a:lnSpc>
            </a:pPr>
            <a:r>
              <a:rPr lang="en-US" sz="1500">
                <a:solidFill>
                  <a:srgbClr val="1E293B"/>
                </a:solidFill>
                <a:latin typeface="Arial"/>
                <a:ea typeface="Arial"/>
              </a:rPr>
              <a:t>The owner remembers for four days — then forgets which Monday.</a:t>
            </a:r>
            <a:endParaRPr/>
          </a:p>
        </p:txBody>
      </p:sp>
      <p:sp>
        <p:nvSpPr>
          <p:cNvPr id="44" name=""/>
          <p:cNvSpPr/>
          <p:nvPr/>
        </p:nvSpPr>
        <p:spPr>
          <a:xfrm rot="0" flipH="0" flipV="0">
            <a:off x="8172450" y="1485900"/>
            <a:ext cx="3448050" cy="2752725"/>
          </a:xfrm>
          <a:custGeom>
            <a:pathLst>
              <a:path w="362" h="289">
                <a:moveTo>
                  <a:pt x="0" y="0"/>
                </a:moveTo>
                <a:lnTo>
                  <a:pt x="362" y="0"/>
                </a:lnTo>
                <a:lnTo>
                  <a:pt x="362" y="3"/>
                </a:lnTo>
                <a:lnTo>
                  <a:pt x="0" y="3"/>
                </a:lnTo>
                <a:close/>
              </a:path>
            </a:pathLst>
          </a:custGeom>
          <a:solidFill>
            <a:srgbClr val="F59E0B"/>
          </a:solidFill>
          <a:ln/>
        </p:spPr>
        <p:txBody>
          <a:bodyPr/>
          <a:p/>
        </p:txBody>
      </p:sp>
      <p:sp>
        <p:nvSpPr>
          <p:cNvPr id="45" name="" descr="{&quot;isTemplate&quot;:true,&quot;type&quot;:&quot;text&quot;}"/>
          <p:cNvSpPr txBox="1"/>
          <p:nvPr/>
        </p:nvSpPr>
        <p:spPr>
          <a:xfrm rot="0" flipH="0" flipV="0">
            <a:off x="8172450" y="1685925"/>
            <a:ext cx="3448050" cy="504825"/>
          </a:xfrm>
          <a:prstGeom prst="rect"/>
        </p:spPr>
        <p:txBody>
          <a:bodyPr wrap="none" lIns="0" tIns="0" rIns="0" bIns="0"/>
          <a:p>
            <a:pPr>
              <a:lnSpc>
                <a:spcPct val="110000"/>
              </a:lnSpc>
            </a:pPr>
            <a:r>
              <a:rPr lang="en-US" sz="3000" b="1">
                <a:solidFill>
                  <a:srgbClr val="F59E0B"/>
                </a:solidFill>
                <a:latin typeface="Arial"/>
                <a:ea typeface="Arial"/>
              </a:rPr>
              <a:t>03</a:t>
            </a:r>
            <a:endParaRPr/>
          </a:p>
        </p:txBody>
      </p:sp>
      <p:sp>
        <p:nvSpPr>
          <p:cNvPr id="46" name="" descr="{&quot;isTemplate&quot;:true,&quot;type&quot;:&quot;text&quot;}"/>
          <p:cNvSpPr txBox="1"/>
          <p:nvPr/>
        </p:nvSpPr>
        <p:spPr>
          <a:xfrm rot="0" flipH="0" flipV="0">
            <a:off x="8172450" y="2324100"/>
            <a:ext cx="3448050" cy="152400"/>
          </a:xfrm>
          <a:prstGeom prst="rect"/>
        </p:spPr>
        <p:txBody>
          <a:bodyPr wrap="none" lIns="0" tIns="0" rIns="0" bIns="0"/>
          <a:p>
            <a:pPr>
              <a:lnSpc>
                <a:spcPct val="100000"/>
              </a:lnSpc>
            </a:pPr>
            <a:r>
              <a:rPr lang="en-US" sz="975" b="1" spc="120">
                <a:solidFill>
                  <a:srgbClr val="B45309"/>
                </a:solidFill>
                <a:latin typeface="Arial"/>
                <a:ea typeface="Arial"/>
              </a:rPr>
              <a:t>THE SYSTEM SENDS</a:t>
            </a:r>
            <a:endParaRPr/>
          </a:p>
        </p:txBody>
      </p:sp>
      <p:sp>
        <p:nvSpPr>
          <p:cNvPr id="47" name="" descr="{&quot;isTemplate&quot;:true,&quot;type&quot;:&quot;text&quot;}"/>
          <p:cNvSpPr txBox="1"/>
          <p:nvPr/>
        </p:nvSpPr>
        <p:spPr>
          <a:xfrm rot="0" flipH="0" flipV="0">
            <a:off x="8172450" y="2590800"/>
            <a:ext cx="3448050" cy="1066800"/>
          </a:xfrm>
          <a:prstGeom prst="rect"/>
        </p:spPr>
        <p:txBody>
          <a:bodyPr wrap="square" lIns="0" tIns="0" rIns="0" bIns="0">
            <a:normAutofit/>
          </a:bodyPr>
          <a:p>
            <a:pPr>
              <a:lnSpc>
                <a:spcPct val="155000"/>
              </a:lnSpc>
            </a:pPr>
            <a:r>
              <a:rPr lang="en-US" sz="1500">
                <a:solidFill>
                  <a:srgbClr val="1E293B"/>
                </a:solidFill>
                <a:latin typeface="Arial"/>
                <a:ea typeface="Arial"/>
              </a:rPr>
              <a:t xml:space="preserve">“Invoice 0361 is 38 days overdue.” The customer reads it as: </a:t>
            </a:r>
            <a:r>
              <a:rPr lang="en-US" sz="1500" b="1">
                <a:solidFill>
                  <a:srgbClr val="1E293B"/>
                </a:solidFill>
                <a:latin typeface="Arial"/>
                <a:ea typeface="Arial"/>
              </a:rPr>
              <a:t>you weren't listening.</a:t>
            </a:r>
            <a:endParaRPr/>
          </a:p>
        </p:txBody>
      </p:sp>
      <p:sp>
        <p:nvSpPr>
          <p:cNvPr id="48" name=""/>
          <p:cNvSpPr/>
          <p:nvPr/>
        </p:nvSpPr>
        <p:spPr>
          <a:xfrm rot="0" flipH="0" flipV="0">
            <a:off x="571500" y="5162550"/>
            <a:ext cx="11049000" cy="1123950"/>
          </a:xfrm>
          <a:prstGeom prst="roundRect">
            <a:avLst>
              <a:gd name="adj" fmla="val 6780"/>
            </a:avLst>
          </a:prstGeom>
          <a:solidFill>
            <a:srgbClr val="EFF6FF"/>
          </a:solidFill>
          <a:ln/>
        </p:spPr>
        <p:txBody>
          <a:bodyPr/>
          <a:p/>
        </p:txBody>
      </p:sp>
      <p:sp>
        <p:nvSpPr>
          <p:cNvPr id="49" name="" descr="{&quot;isTemplate&quot;:true,&quot;type&quot;:&quot;text&quot;}"/>
          <p:cNvSpPr txBox="1"/>
          <p:nvPr/>
        </p:nvSpPr>
        <p:spPr>
          <a:xfrm rot="0" flipH="0" flipV="0">
            <a:off x="819150" y="5362575"/>
            <a:ext cx="10553700" cy="723900"/>
          </a:xfrm>
          <a:prstGeom prst="rect"/>
        </p:spPr>
        <p:txBody>
          <a:bodyPr wrap="square" lIns="0" tIns="0" rIns="0" bIns="0">
            <a:normAutofit/>
          </a:bodyPr>
          <a:p>
            <a:pPr>
              <a:lnSpc>
                <a:spcPct val="150000"/>
              </a:lnSpc>
            </a:pPr>
            <a:r>
              <a:rPr lang="en-US" sz="1575">
                <a:solidFill>
                  <a:srgbClr val="0F172A"/>
                </a:solidFill>
                <a:latin typeface="Arial"/>
                <a:ea typeface="Arial"/>
              </a:rPr>
              <a:t>The cost is not the letter. It is a badly timed chase spending goodwill you cannot buy back — and quiet customers pay last.</a:t>
            </a:r>
            <a:endParaRPr/>
          </a:p>
        </p:txBody>
      </p:sp>
      <p:sp>
        <p:nvSpPr>
          <p:cNvPr id="50" name="" descr="{&quot;isTemplate&quot;:true,&quot;type&quot;:&quot;text&quot;}"/>
          <p:cNvSpPr txBox="1"/>
          <p:nvPr/>
        </p:nvSpPr>
        <p:spPr>
          <a:xfrm rot="0" flipH="0" flipV="0">
            <a:off x="571500" y="6505575"/>
            <a:ext cx="2076450" cy="161925"/>
          </a:xfrm>
          <a:prstGeom prst="rect"/>
        </p:spPr>
        <p:txBody>
          <a:bodyPr wrap="none" lIns="0" tIns="0" rIns="0" bIns="0"/>
          <a:p>
            <a:pPr>
              <a:lnSpc>
                <a:spcPct val="100000"/>
              </a:lnSpc>
            </a:pPr>
            <a:r>
              <a:rPr lang="en-US" sz="1050">
                <a:solidFill>
                  <a:srgbClr val="94A3B8"/>
                </a:solidFill>
                <a:latin typeface="Arial"/>
                <a:ea typeface="Arial"/>
              </a:rPr>
              <a:t>CollectLoop · RREF COLLECTION</a:t>
            </a:r>
            <a:endParaRPr/>
          </a:p>
        </p:txBody>
      </p:sp>
      <p:sp>
        <p:nvSpPr>
          <p:cNvPr id="51" name="" descr="{&quot;isTemplate&quot;:true,&quot;type&quot;:&quot;text&quot;}"/>
          <p:cNvSpPr txBox="1"/>
          <p:nvPr/>
        </p:nvSpPr>
        <p:spPr>
          <a:xfrm rot="0" flipH="0" flipV="0">
            <a:off x="11458575" y="6496050"/>
            <a:ext cx="161925" cy="171450"/>
          </a:xfrm>
          <a:prstGeom prst="rect"/>
        </p:spPr>
        <p:txBody>
          <a:bodyPr wrap="none" lIns="0" tIns="0" rIns="0" bIns="0"/>
          <a:p>
            <a:pPr>
              <a:lnSpc>
                <a:spcPct val="100000"/>
              </a:lnSpc>
            </a:pPr>
            <a:r>
              <a:rPr lang="en-US" sz="1125">
                <a:solidFill>
                  <a:srgbClr val="94A3B8"/>
                </a:solidFill>
                <a:latin typeface="Arial"/>
                <a:ea typeface="Arial"/>
              </a:rPr>
              <a:t>03</a:t>
            </a:r>
            <a:endParaRPr/>
          </a:p>
        </p:txBody>
      </p:sp>
    </p:spTree>
  </p:cSld>
</p:sld>
</file>

<file path=ppt/slides/slide4.xml><?xml version="1.0" encoding="utf-8"?>
<p:sld xmlns:p="http://schemas.openxmlformats.org/presentationml/2006/main" xmlns:a="http://schemas.openxmlformats.org/drawingml/2006/main">
  <p:cSld>
    <p:spTree>
      <p:nvGrpSpPr>
        <p:cNvPr id="52" name="" descr="&lt;Slide style={{ width: 1280, height: 720, padding: 60, background: '#FFFFFF', fontFamily: 'Arial', flexDirection: 'column' }}&gt;&#10;  &lt;Text style={{ fontSize: 34, fontWeight: 'bold', color: '#0F172A', lineHeight: 1.18, letterSpacing: -0.6 }}&gt;&#10;    One click, five stages, and the only output is a draft.&#10;  &lt;/Text&gt;&#10;  &lt;Box style={{ height: 1, background: '#E2E8F0', marginTop: 16 }} /&gt;&#10;&#10;  &lt;Box style={{ flexDirection: 'row', gap: 21, marginTop: 28, height: 188 }}&gt;&#10;    &lt;Box style={{ width: 212, flexDirection: 'column', borderTop: '2px solid #CBD5E1', paddingTop: 14 }}&gt;&#10;      &lt;Text style={{ fontSize: 13, fontWeight: 'bold', color: '#94A3B8', letterSpacing: 1.2 }}&gt;STAGE 1&lt;/Text&gt;&#10;      &lt;Text style={{ fontSize: 19, fontWeight: 'bold', color: '#0F172A', lineHeight: 1.35, marginTop: 8 }}&gt;&#10;        A person presses “Run today's scan”&#10;      &lt;/Text&gt;&#10;      &lt;Text style={{ fontSize: 13, color: '#64748B', marginTop: 8 }}&gt;human&lt;/Text&gt;&#10;    &lt;/Box&gt;&#10;&#10;    &lt;Box style={{ width: 212, flexDirection: 'column', borderTop: '2px solid #CBD5E1', paddingTop: 14 }}&gt;&#10;      &lt;Text style={{ fontSize: 13, fontWeight: 'bold', color: '#94A3B8', letterSpacing: 1.2 }}&gt;STAGE 2&lt;/Text&gt;&#10;      &lt;Text style={{ fontSize: 19, fontWeight: 'bold', color: '#0F172A', lineHeight: 1.35, marginTop: 8 }}&gt;&#10;        Read the invoice book and the promise ledger&#10;      &lt;/Text&gt;&#10;      &lt;Text style={{ fontSize: 13, color: '#64748B', marginTop: 8 }}&gt;code&lt;/Text&gt;&#10;    &lt;/Box&gt;&#10;&#10;    &lt;Box style={{ width: 212, flexDirection: 'column', borderTop: '2px solid #2563EB', paddingTop: 14 }}&gt;&#10;      &lt;Text style={{ fontSize: 13, fontWeight: 'bold', color: '#2563EB', letterSpacing: 1.2 }}&gt;STAGE 3&lt;/Text&gt;&#10;      &lt;Text style={{ fontSize: 19, fontWeight: 'bold', color: '#0F172A', lineHeight: 1.35, marginTop: 8 }}&gt;&#10;        Decide who to chase, and in what tone&#10;      &lt;/Text&gt;&#10;      &lt;Text style={{ fontSize: 13, fontWeight: 'bold', color: '#2563EB', marginTop: 8 }}&gt;rule&lt;/Text&gt;&#10;    &lt;/Box&gt;&#10;&#10;    &lt;Box style={{ width: 212, flexDirection: 'column', borderTop: '2px solid #2563EB', paddingTop: 14 }}&gt;&#10;      &lt;Text style={{ fontSize: 13, fontWeight: 'bold', color: '#2563EB', letterSpacing: 1.2 }}&gt;STAGE 4&lt;/Text&gt;&#10;      &lt;Text style={{ fontSize: 19, fontWeight: 'bold', color: '#0F172A', lineHeight: 1.35, marginTop: 8 }}&gt;&#10;        Write the sentence&#10;      &lt;/Text&gt;&#10;      &lt;Text style={{ fontSize: 13, fontWeight: 'bold', color: '#2563EB', marginTop: 8 }}&gt;AI&lt;/Text&gt;&#10;    &lt;/Box&gt;&#10;&#10;    &lt;Box style={{ width: 212, flexDirection: 'column', borderTop: '2px solid #CBD5E1', paddingTop: 14 }}&gt;&#10;      &lt;Text style={{ fontSize: 13, fontWeight: 'bold', color: '#94A3B8', letterSpacing: 1.2 }}&gt;STAGE 5&lt;/Text&gt;&#10;      &lt;Text style={{ fontSize: 19, fontWeight: 'bold', color: '#0F172A', lineHeight: 1.35, marginTop: 8 }}&gt;&#10;        Approve, skip, or record a new promise&#10;      &lt;/Text&gt;&#10;      &lt;Text style={{ fontSize: 13, color: '#64748B', marginTop: 8 }}&gt;human&lt;/Text&gt;&#10;    &lt;/Box&gt;&#10;  &lt;/Box&gt;&#10;&#10;  &lt;Box style={{ height: 1, background: '#E2E8F0', marginTop: 26 }} /&gt;&#10;&#10;  &lt;Box style={{ flexDirection: 'row', marginTop: 26, alignItems: 'flex-end' }}&gt;&#10;    &lt;Box style={{ width: 520, flexDirection: 'row', alignItems: 'flex-end' }}&gt;&#10;      &lt;Text style={{ width: 66, fontSize: 104, fontWeight: 'bold', color: '#0F172A', lineHeight: 1 }}&gt;4&lt;/Text&gt;&#10;      &lt;Text style={{ width: 330, fontSize: 19, color: '#1E293B', lineHeight: 1.5, marginLeft: 16, marginBottom: 6 }}&gt;&#10;        drafts, one per &lt;span style={{ fontWeight: 'bold' }}&gt;broken&lt;/span&gt; promise — each quoting the date the customer gave.&#10;      &lt;/Text&gt;&#10;    &lt;/Box&gt;&#10;    &lt;Box style={{ width: 1, height: 108, background: '#E2E8F0', marginLeft: 24, marginRight: 40 }} /&gt;&#10;    &lt;Box style={{ width: 520, flexDirection: 'row', alignItems: 'flex-end' }}&gt;&#10;      &lt;Text style={{ width: 66, fontSize: 104, fontWeight: 'bold', color: '#F59E0B', lineHeight: 1 }}&gt;0&lt;/Text&gt;&#10;      &lt;Text style={{ width: 330, fontSize: 19, color: '#1E293B', lineHeight: 1.5, marginLeft: 16, marginBottom: 6 }}&gt;&#10;        drafts while the promise still holds. &lt;span style={{ fontWeight: 'bold' }}&gt;Not sending is a feature.&lt;/span&gt;&#10;      &lt;/Text&gt;&#10;    &lt;/Box&gt;&#10;  &lt;/Box&gt;&#10;&#10;  &lt;Box style={{ flex: 1 }} /&gt;&#10;  &lt;Text style={{ fontSize: 15, color: '#64748B', lineHeight: 1.4 }}&gt;&#10;    Live build: one click returns 4 drafts and holds 1 — standard-library Python, no model key needed.&#10;  &lt;/Text&gt;&#10;&#10;  &lt;Text style={{ position: 'absolute', left: 60, bottom: 20, fontSize: 14, color: '#94A3B8' }}&gt;CollectLoop · RREF COLLECTION&lt;/Text&gt;&#10;  &lt;Text style={{ position: 'absolute', right: 60, bottom: 20, fontSize: 15, color: '#94A3B8' }}&gt;04&lt;/Text&gt;&#10;&lt;/Slide&gt;&#10;"/>
        <p:cNvGrpSpPr/>
        <p:nvPr/>
      </p:nvGrpSpPr>
      <p:grpSpPr>
        <a:xfrm>
          <a:off x="0" y="0"/>
          <a:ext cx="0" cy="0"/>
          <a:chOff x="0" y="0"/>
          <a:chExt cx="0" cy="0"/>
        </a:xfrm>
      </p:grpSpPr>
      <p:sp>
        <p:nvSpPr>
          <p:cNvPr id="53" name=""/>
          <p:cNvSpPr/>
          <p:nvPr/>
        </p:nvSpPr>
        <p:spPr>
          <a:xfrm rot="0" flipH="0" flipV="0">
            <a:off x="0" y="0"/>
            <a:ext cx="12192000" cy="6858000"/>
          </a:xfrm>
          <a:prstGeom prst="rect">
            <a:avLst/>
          </a:prstGeom>
          <a:solidFill>
            <a:srgbClr val="FFFFFF"/>
          </a:solidFill>
          <a:ln/>
        </p:spPr>
        <p:txBody>
          <a:bodyPr/>
          <a:p/>
        </p:txBody>
      </p:sp>
      <p:sp>
        <p:nvSpPr>
          <p:cNvPr id="54" name="" descr="{&quot;isTemplate&quot;:true,&quot;type&quot;:&quot;text&quot;}"/>
          <p:cNvSpPr txBox="1"/>
          <p:nvPr/>
        </p:nvSpPr>
        <p:spPr>
          <a:xfrm rot="0" flipH="0" flipV="0">
            <a:off x="571500" y="571500"/>
            <a:ext cx="11049000" cy="466725"/>
          </a:xfrm>
          <a:prstGeom prst="rect"/>
        </p:spPr>
        <p:txBody>
          <a:bodyPr wrap="none" lIns="0" tIns="0" rIns="0" bIns="0"/>
          <a:p>
            <a:pPr>
              <a:lnSpc>
                <a:spcPct val="118000"/>
              </a:lnSpc>
            </a:pPr>
            <a:r>
              <a:rPr lang="en-US" sz="2550" b="1" spc="-45">
                <a:solidFill>
                  <a:srgbClr val="0F172A"/>
                </a:solidFill>
                <a:latin typeface="Arial"/>
                <a:ea typeface="Arial"/>
              </a:rPr>
              <a:t>One click, five stages, and the only output is a draft.</a:t>
            </a:r>
            <a:endParaRPr/>
          </a:p>
        </p:txBody>
      </p:sp>
      <p:sp>
        <p:nvSpPr>
          <p:cNvPr id="55" name=""/>
          <p:cNvSpPr/>
          <p:nvPr/>
        </p:nvSpPr>
        <p:spPr>
          <a:xfrm rot="0" flipH="0" flipV="0">
            <a:off x="571500" y="1190625"/>
            <a:ext cx="11049000" cy="9525"/>
          </a:xfrm>
          <a:prstGeom prst="rect">
            <a:avLst/>
          </a:prstGeom>
          <a:solidFill>
            <a:srgbClr val="E2E8F0"/>
          </a:solidFill>
          <a:ln/>
        </p:spPr>
        <p:txBody>
          <a:bodyPr/>
          <a:p/>
        </p:txBody>
      </p:sp>
      <p:sp>
        <p:nvSpPr>
          <p:cNvPr id="56" name=""/>
          <p:cNvSpPr/>
          <p:nvPr/>
        </p:nvSpPr>
        <p:spPr>
          <a:xfrm rot="0" flipH="0" flipV="0">
            <a:off x="571500" y="1466850"/>
            <a:ext cx="2019300" cy="1809750"/>
          </a:xfrm>
          <a:custGeom>
            <a:pathLst>
              <a:path w="212" h="190">
                <a:moveTo>
                  <a:pt x="0" y="0"/>
                </a:moveTo>
                <a:lnTo>
                  <a:pt x="212" y="0"/>
                </a:lnTo>
                <a:lnTo>
                  <a:pt x="212" y="2"/>
                </a:lnTo>
                <a:lnTo>
                  <a:pt x="0" y="2"/>
                </a:lnTo>
                <a:close/>
              </a:path>
            </a:pathLst>
          </a:custGeom>
          <a:solidFill>
            <a:srgbClr val="CBD5E1"/>
          </a:solidFill>
          <a:ln/>
        </p:spPr>
        <p:txBody>
          <a:bodyPr/>
          <a:p/>
        </p:txBody>
      </p:sp>
      <p:sp>
        <p:nvSpPr>
          <p:cNvPr id="57" name="" descr="{&quot;isTemplate&quot;:true,&quot;type&quot;:&quot;text&quot;}"/>
          <p:cNvSpPr txBox="1"/>
          <p:nvPr/>
        </p:nvSpPr>
        <p:spPr>
          <a:xfrm rot="0" flipH="0" flipV="0">
            <a:off x="571500" y="1619250"/>
            <a:ext cx="2019300" cy="152400"/>
          </a:xfrm>
          <a:prstGeom prst="rect"/>
        </p:spPr>
        <p:txBody>
          <a:bodyPr wrap="none" lIns="0" tIns="0" rIns="0" bIns="0"/>
          <a:p>
            <a:pPr>
              <a:lnSpc>
                <a:spcPct val="100000"/>
              </a:lnSpc>
            </a:pPr>
            <a:r>
              <a:rPr lang="en-US" sz="975" b="1" spc="90">
                <a:solidFill>
                  <a:srgbClr val="94A3B8"/>
                </a:solidFill>
                <a:latin typeface="Arial"/>
                <a:ea typeface="Arial"/>
              </a:rPr>
              <a:t>STAGE 1</a:t>
            </a:r>
            <a:endParaRPr/>
          </a:p>
        </p:txBody>
      </p:sp>
      <p:sp>
        <p:nvSpPr>
          <p:cNvPr id="58" name="" descr="{&quot;isTemplate&quot;:true,&quot;type&quot;:&quot;text&quot;}"/>
          <p:cNvSpPr txBox="1"/>
          <p:nvPr/>
        </p:nvSpPr>
        <p:spPr>
          <a:xfrm rot="0" flipH="0" flipV="0">
            <a:off x="571500" y="1847850"/>
            <a:ext cx="2019300" cy="590550"/>
          </a:xfrm>
          <a:prstGeom prst="rect"/>
        </p:spPr>
        <p:txBody>
          <a:bodyPr wrap="square" lIns="0" tIns="0" rIns="0" bIns="0">
            <a:normAutofit/>
          </a:bodyPr>
          <a:p>
            <a:pPr>
              <a:lnSpc>
                <a:spcPct val="135000"/>
              </a:lnSpc>
            </a:pPr>
            <a:r>
              <a:rPr lang="en-US" sz="1425" b="1">
                <a:solidFill>
                  <a:srgbClr val="0F172A"/>
                </a:solidFill>
                <a:latin typeface="Arial"/>
                <a:ea typeface="Arial"/>
              </a:rPr>
              <a:t>A person presses “Run today's scan”</a:t>
            </a:r>
            <a:endParaRPr/>
          </a:p>
        </p:txBody>
      </p:sp>
      <p:sp>
        <p:nvSpPr>
          <p:cNvPr id="59" name="" descr="{&quot;isTemplate&quot;:true,&quot;type&quot;:&quot;text&quot;}"/>
          <p:cNvSpPr txBox="1"/>
          <p:nvPr/>
        </p:nvSpPr>
        <p:spPr>
          <a:xfrm rot="0" flipH="0" flipV="0">
            <a:off x="571500" y="2514600"/>
            <a:ext cx="2019300" cy="152400"/>
          </a:xfrm>
          <a:prstGeom prst="rect"/>
        </p:spPr>
        <p:txBody>
          <a:bodyPr wrap="none" lIns="0" tIns="0" rIns="0" bIns="0"/>
          <a:p>
            <a:pPr>
              <a:lnSpc>
                <a:spcPct val="100000"/>
              </a:lnSpc>
            </a:pPr>
            <a:r>
              <a:rPr lang="en-US" sz="975">
                <a:solidFill>
                  <a:srgbClr val="64748B"/>
                </a:solidFill>
                <a:latin typeface="Arial"/>
                <a:ea typeface="Arial"/>
              </a:rPr>
              <a:t>human</a:t>
            </a:r>
            <a:endParaRPr/>
          </a:p>
        </p:txBody>
      </p:sp>
      <p:sp>
        <p:nvSpPr>
          <p:cNvPr id="60" name=""/>
          <p:cNvSpPr/>
          <p:nvPr/>
        </p:nvSpPr>
        <p:spPr>
          <a:xfrm rot="0" flipH="0" flipV="0">
            <a:off x="2790825" y="1466850"/>
            <a:ext cx="2019300" cy="1809750"/>
          </a:xfrm>
          <a:custGeom>
            <a:pathLst>
              <a:path w="212" h="190">
                <a:moveTo>
                  <a:pt x="0" y="0"/>
                </a:moveTo>
                <a:lnTo>
                  <a:pt x="212" y="0"/>
                </a:lnTo>
                <a:lnTo>
                  <a:pt x="212" y="2"/>
                </a:lnTo>
                <a:lnTo>
                  <a:pt x="0" y="2"/>
                </a:lnTo>
                <a:close/>
              </a:path>
            </a:pathLst>
          </a:custGeom>
          <a:solidFill>
            <a:srgbClr val="CBD5E1"/>
          </a:solidFill>
          <a:ln/>
        </p:spPr>
        <p:txBody>
          <a:bodyPr/>
          <a:p/>
        </p:txBody>
      </p:sp>
      <p:sp>
        <p:nvSpPr>
          <p:cNvPr id="61" name="" descr="{&quot;isTemplate&quot;:true,&quot;type&quot;:&quot;text&quot;}"/>
          <p:cNvSpPr txBox="1"/>
          <p:nvPr/>
        </p:nvSpPr>
        <p:spPr>
          <a:xfrm rot="0" flipH="0" flipV="0">
            <a:off x="2790825" y="1619250"/>
            <a:ext cx="2019300" cy="152400"/>
          </a:xfrm>
          <a:prstGeom prst="rect"/>
        </p:spPr>
        <p:txBody>
          <a:bodyPr wrap="none" lIns="0" tIns="0" rIns="0" bIns="0"/>
          <a:p>
            <a:pPr>
              <a:lnSpc>
                <a:spcPct val="100000"/>
              </a:lnSpc>
            </a:pPr>
            <a:r>
              <a:rPr lang="en-US" sz="975" b="1" spc="90">
                <a:solidFill>
                  <a:srgbClr val="94A3B8"/>
                </a:solidFill>
                <a:latin typeface="Arial"/>
                <a:ea typeface="Arial"/>
              </a:rPr>
              <a:t>STAGE 2</a:t>
            </a:r>
            <a:endParaRPr/>
          </a:p>
        </p:txBody>
      </p:sp>
      <p:sp>
        <p:nvSpPr>
          <p:cNvPr id="62" name="" descr="{&quot;isTemplate&quot;:true,&quot;type&quot;:&quot;text&quot;}"/>
          <p:cNvSpPr txBox="1"/>
          <p:nvPr/>
        </p:nvSpPr>
        <p:spPr>
          <a:xfrm rot="0" flipH="0" flipV="0">
            <a:off x="2790825" y="1847850"/>
            <a:ext cx="2019300" cy="590550"/>
          </a:xfrm>
          <a:prstGeom prst="rect"/>
        </p:spPr>
        <p:txBody>
          <a:bodyPr wrap="square" lIns="0" tIns="0" rIns="0" bIns="0">
            <a:normAutofit/>
          </a:bodyPr>
          <a:p>
            <a:pPr>
              <a:lnSpc>
                <a:spcPct val="135000"/>
              </a:lnSpc>
            </a:pPr>
            <a:r>
              <a:rPr lang="en-US" sz="1425" b="1">
                <a:solidFill>
                  <a:srgbClr val="0F172A"/>
                </a:solidFill>
                <a:latin typeface="Arial"/>
                <a:ea typeface="Arial"/>
              </a:rPr>
              <a:t>Read the invoice book and the promise ledger</a:t>
            </a:r>
            <a:endParaRPr/>
          </a:p>
        </p:txBody>
      </p:sp>
      <p:sp>
        <p:nvSpPr>
          <p:cNvPr id="63" name="" descr="{&quot;isTemplate&quot;:true,&quot;type&quot;:&quot;text&quot;}"/>
          <p:cNvSpPr txBox="1"/>
          <p:nvPr/>
        </p:nvSpPr>
        <p:spPr>
          <a:xfrm rot="0" flipH="0" flipV="0">
            <a:off x="2790825" y="2514600"/>
            <a:ext cx="2019300" cy="152400"/>
          </a:xfrm>
          <a:prstGeom prst="rect"/>
        </p:spPr>
        <p:txBody>
          <a:bodyPr wrap="none" lIns="0" tIns="0" rIns="0" bIns="0"/>
          <a:p>
            <a:pPr>
              <a:lnSpc>
                <a:spcPct val="100000"/>
              </a:lnSpc>
            </a:pPr>
            <a:r>
              <a:rPr lang="en-US" sz="975">
                <a:solidFill>
                  <a:srgbClr val="64748B"/>
                </a:solidFill>
                <a:latin typeface="Arial"/>
                <a:ea typeface="Arial"/>
              </a:rPr>
              <a:t>code</a:t>
            </a:r>
            <a:endParaRPr/>
          </a:p>
        </p:txBody>
      </p:sp>
      <p:sp>
        <p:nvSpPr>
          <p:cNvPr id="64" name=""/>
          <p:cNvSpPr/>
          <p:nvPr/>
        </p:nvSpPr>
        <p:spPr>
          <a:xfrm rot="0" flipH="0" flipV="0">
            <a:off x="5010150" y="1466850"/>
            <a:ext cx="2019300" cy="1809750"/>
          </a:xfrm>
          <a:custGeom>
            <a:pathLst>
              <a:path w="212" h="190">
                <a:moveTo>
                  <a:pt x="0" y="0"/>
                </a:moveTo>
                <a:lnTo>
                  <a:pt x="212" y="0"/>
                </a:lnTo>
                <a:lnTo>
                  <a:pt x="212" y="2"/>
                </a:lnTo>
                <a:lnTo>
                  <a:pt x="0" y="2"/>
                </a:lnTo>
                <a:close/>
              </a:path>
            </a:pathLst>
          </a:custGeom>
          <a:solidFill>
            <a:srgbClr val="2563EB"/>
          </a:solidFill>
          <a:ln/>
        </p:spPr>
        <p:txBody>
          <a:bodyPr/>
          <a:p/>
        </p:txBody>
      </p:sp>
      <p:sp>
        <p:nvSpPr>
          <p:cNvPr id="65" name="" descr="{&quot;isTemplate&quot;:true,&quot;type&quot;:&quot;text&quot;}"/>
          <p:cNvSpPr txBox="1"/>
          <p:nvPr/>
        </p:nvSpPr>
        <p:spPr>
          <a:xfrm rot="0" flipH="0" flipV="0">
            <a:off x="5010150" y="1619250"/>
            <a:ext cx="2019300" cy="152400"/>
          </a:xfrm>
          <a:prstGeom prst="rect"/>
        </p:spPr>
        <p:txBody>
          <a:bodyPr wrap="none" lIns="0" tIns="0" rIns="0" bIns="0"/>
          <a:p>
            <a:pPr>
              <a:lnSpc>
                <a:spcPct val="100000"/>
              </a:lnSpc>
            </a:pPr>
            <a:r>
              <a:rPr lang="en-US" sz="975" b="1" spc="90">
                <a:solidFill>
                  <a:srgbClr val="2563EB"/>
                </a:solidFill>
                <a:latin typeface="Arial"/>
                <a:ea typeface="Arial"/>
              </a:rPr>
              <a:t>STAGE 3</a:t>
            </a:r>
            <a:endParaRPr/>
          </a:p>
        </p:txBody>
      </p:sp>
      <p:sp>
        <p:nvSpPr>
          <p:cNvPr id="66" name="" descr="{&quot;isTemplate&quot;:true,&quot;type&quot;:&quot;text&quot;}"/>
          <p:cNvSpPr txBox="1"/>
          <p:nvPr/>
        </p:nvSpPr>
        <p:spPr>
          <a:xfrm rot="0" flipH="0" flipV="0">
            <a:off x="5010150" y="1847850"/>
            <a:ext cx="2019300" cy="590550"/>
          </a:xfrm>
          <a:prstGeom prst="rect"/>
        </p:spPr>
        <p:txBody>
          <a:bodyPr wrap="square" lIns="0" tIns="0" rIns="0" bIns="0">
            <a:normAutofit/>
          </a:bodyPr>
          <a:p>
            <a:pPr>
              <a:lnSpc>
                <a:spcPct val="135000"/>
              </a:lnSpc>
            </a:pPr>
            <a:r>
              <a:rPr lang="en-US" sz="1425" b="1">
                <a:solidFill>
                  <a:srgbClr val="0F172A"/>
                </a:solidFill>
                <a:latin typeface="Arial"/>
                <a:ea typeface="Arial"/>
              </a:rPr>
              <a:t>Decide who to chase, and in what tone</a:t>
            </a:r>
            <a:endParaRPr/>
          </a:p>
        </p:txBody>
      </p:sp>
      <p:sp>
        <p:nvSpPr>
          <p:cNvPr id="67" name="" descr="{&quot;isTemplate&quot;:true,&quot;type&quot;:&quot;text&quot;}"/>
          <p:cNvSpPr txBox="1"/>
          <p:nvPr/>
        </p:nvSpPr>
        <p:spPr>
          <a:xfrm rot="0" flipH="0" flipV="0">
            <a:off x="5010150" y="2514600"/>
            <a:ext cx="2019300" cy="152400"/>
          </a:xfrm>
          <a:prstGeom prst="rect"/>
        </p:spPr>
        <p:txBody>
          <a:bodyPr wrap="none" lIns="0" tIns="0" rIns="0" bIns="0"/>
          <a:p>
            <a:pPr>
              <a:lnSpc>
                <a:spcPct val="100000"/>
              </a:lnSpc>
            </a:pPr>
            <a:r>
              <a:rPr lang="en-US" sz="975" b="1">
                <a:solidFill>
                  <a:srgbClr val="2563EB"/>
                </a:solidFill>
                <a:latin typeface="Arial"/>
                <a:ea typeface="Arial"/>
              </a:rPr>
              <a:t>rule</a:t>
            </a:r>
            <a:endParaRPr/>
          </a:p>
        </p:txBody>
      </p:sp>
      <p:sp>
        <p:nvSpPr>
          <p:cNvPr id="68" name=""/>
          <p:cNvSpPr/>
          <p:nvPr/>
        </p:nvSpPr>
        <p:spPr>
          <a:xfrm rot="0" flipH="0" flipV="0">
            <a:off x="7229475" y="1466850"/>
            <a:ext cx="2019300" cy="1809750"/>
          </a:xfrm>
          <a:custGeom>
            <a:pathLst>
              <a:path w="212" h="190">
                <a:moveTo>
                  <a:pt x="0" y="0"/>
                </a:moveTo>
                <a:lnTo>
                  <a:pt x="212" y="0"/>
                </a:lnTo>
                <a:lnTo>
                  <a:pt x="212" y="2"/>
                </a:lnTo>
                <a:lnTo>
                  <a:pt x="0" y="2"/>
                </a:lnTo>
                <a:close/>
              </a:path>
            </a:pathLst>
          </a:custGeom>
          <a:solidFill>
            <a:srgbClr val="2563EB"/>
          </a:solidFill>
          <a:ln/>
        </p:spPr>
        <p:txBody>
          <a:bodyPr/>
          <a:p/>
        </p:txBody>
      </p:sp>
      <p:sp>
        <p:nvSpPr>
          <p:cNvPr id="69" name="" descr="{&quot;isTemplate&quot;:true,&quot;type&quot;:&quot;text&quot;}"/>
          <p:cNvSpPr txBox="1"/>
          <p:nvPr/>
        </p:nvSpPr>
        <p:spPr>
          <a:xfrm rot="0" flipH="0" flipV="0">
            <a:off x="7229475" y="1619250"/>
            <a:ext cx="2019300" cy="152400"/>
          </a:xfrm>
          <a:prstGeom prst="rect"/>
        </p:spPr>
        <p:txBody>
          <a:bodyPr wrap="none" lIns="0" tIns="0" rIns="0" bIns="0"/>
          <a:p>
            <a:pPr>
              <a:lnSpc>
                <a:spcPct val="100000"/>
              </a:lnSpc>
            </a:pPr>
            <a:r>
              <a:rPr lang="en-US" sz="975" b="1" spc="90">
                <a:solidFill>
                  <a:srgbClr val="2563EB"/>
                </a:solidFill>
                <a:latin typeface="Arial"/>
                <a:ea typeface="Arial"/>
              </a:rPr>
              <a:t>STAGE 4</a:t>
            </a:r>
            <a:endParaRPr/>
          </a:p>
        </p:txBody>
      </p:sp>
      <p:sp>
        <p:nvSpPr>
          <p:cNvPr id="70" name="" descr="{&quot;isTemplate&quot;:true,&quot;type&quot;:&quot;text&quot;}"/>
          <p:cNvSpPr txBox="1"/>
          <p:nvPr/>
        </p:nvSpPr>
        <p:spPr>
          <a:xfrm rot="0" flipH="0" flipV="0">
            <a:off x="7229475" y="1847850"/>
            <a:ext cx="2019300" cy="295275"/>
          </a:xfrm>
          <a:prstGeom prst="rect"/>
        </p:spPr>
        <p:txBody>
          <a:bodyPr wrap="none" lIns="0" tIns="0" rIns="0" bIns="0"/>
          <a:p>
            <a:pPr>
              <a:lnSpc>
                <a:spcPct val="135000"/>
              </a:lnSpc>
            </a:pPr>
            <a:r>
              <a:rPr lang="en-US" sz="1425" b="1">
                <a:solidFill>
                  <a:srgbClr val="0F172A"/>
                </a:solidFill>
                <a:latin typeface="Arial"/>
                <a:ea typeface="Arial"/>
              </a:rPr>
              <a:t>Write the sentence</a:t>
            </a:r>
            <a:endParaRPr/>
          </a:p>
        </p:txBody>
      </p:sp>
      <p:sp>
        <p:nvSpPr>
          <p:cNvPr id="71" name="" descr="{&quot;isTemplate&quot;:true,&quot;type&quot;:&quot;text&quot;}"/>
          <p:cNvSpPr txBox="1"/>
          <p:nvPr/>
        </p:nvSpPr>
        <p:spPr>
          <a:xfrm rot="0" flipH="0" flipV="0">
            <a:off x="7229475" y="2219325"/>
            <a:ext cx="2019300" cy="152400"/>
          </a:xfrm>
          <a:prstGeom prst="rect"/>
        </p:spPr>
        <p:txBody>
          <a:bodyPr wrap="none" lIns="0" tIns="0" rIns="0" bIns="0"/>
          <a:p>
            <a:pPr>
              <a:lnSpc>
                <a:spcPct val="100000"/>
              </a:lnSpc>
            </a:pPr>
            <a:r>
              <a:rPr lang="en-US" sz="975" b="1">
                <a:solidFill>
                  <a:srgbClr val="2563EB"/>
                </a:solidFill>
                <a:latin typeface="Arial"/>
                <a:ea typeface="Arial"/>
              </a:rPr>
              <a:t>AI</a:t>
            </a:r>
            <a:endParaRPr/>
          </a:p>
        </p:txBody>
      </p:sp>
      <p:sp>
        <p:nvSpPr>
          <p:cNvPr id="72" name=""/>
          <p:cNvSpPr/>
          <p:nvPr/>
        </p:nvSpPr>
        <p:spPr>
          <a:xfrm rot="0" flipH="0" flipV="0">
            <a:off x="9448800" y="1466850"/>
            <a:ext cx="2019300" cy="1809750"/>
          </a:xfrm>
          <a:custGeom>
            <a:pathLst>
              <a:path w="212" h="190">
                <a:moveTo>
                  <a:pt x="0" y="0"/>
                </a:moveTo>
                <a:lnTo>
                  <a:pt x="212" y="0"/>
                </a:lnTo>
                <a:lnTo>
                  <a:pt x="212" y="2"/>
                </a:lnTo>
                <a:lnTo>
                  <a:pt x="0" y="2"/>
                </a:lnTo>
                <a:close/>
              </a:path>
            </a:pathLst>
          </a:custGeom>
          <a:solidFill>
            <a:srgbClr val="CBD5E1"/>
          </a:solidFill>
          <a:ln/>
        </p:spPr>
        <p:txBody>
          <a:bodyPr/>
          <a:p/>
        </p:txBody>
      </p:sp>
      <p:sp>
        <p:nvSpPr>
          <p:cNvPr id="73" name="" descr="{&quot;isTemplate&quot;:true,&quot;type&quot;:&quot;text&quot;}"/>
          <p:cNvSpPr txBox="1"/>
          <p:nvPr/>
        </p:nvSpPr>
        <p:spPr>
          <a:xfrm rot="0" flipH="0" flipV="0">
            <a:off x="9448800" y="1619250"/>
            <a:ext cx="2019300" cy="152400"/>
          </a:xfrm>
          <a:prstGeom prst="rect"/>
        </p:spPr>
        <p:txBody>
          <a:bodyPr wrap="none" lIns="0" tIns="0" rIns="0" bIns="0"/>
          <a:p>
            <a:pPr>
              <a:lnSpc>
                <a:spcPct val="100000"/>
              </a:lnSpc>
            </a:pPr>
            <a:r>
              <a:rPr lang="en-US" sz="975" b="1" spc="90">
                <a:solidFill>
                  <a:srgbClr val="94A3B8"/>
                </a:solidFill>
                <a:latin typeface="Arial"/>
                <a:ea typeface="Arial"/>
              </a:rPr>
              <a:t>STAGE 5</a:t>
            </a:r>
            <a:endParaRPr/>
          </a:p>
        </p:txBody>
      </p:sp>
      <p:sp>
        <p:nvSpPr>
          <p:cNvPr id="74" name="" descr="{&quot;isTemplate&quot;:true,&quot;type&quot;:&quot;text&quot;}"/>
          <p:cNvSpPr txBox="1"/>
          <p:nvPr/>
        </p:nvSpPr>
        <p:spPr>
          <a:xfrm rot="0" flipH="0" flipV="0">
            <a:off x="9448800" y="1847850"/>
            <a:ext cx="2019300" cy="590550"/>
          </a:xfrm>
          <a:prstGeom prst="rect"/>
        </p:spPr>
        <p:txBody>
          <a:bodyPr wrap="square" lIns="0" tIns="0" rIns="0" bIns="0">
            <a:normAutofit/>
          </a:bodyPr>
          <a:p>
            <a:pPr>
              <a:lnSpc>
                <a:spcPct val="135000"/>
              </a:lnSpc>
            </a:pPr>
            <a:r>
              <a:rPr lang="en-US" sz="1425" b="1">
                <a:solidFill>
                  <a:srgbClr val="0F172A"/>
                </a:solidFill>
                <a:latin typeface="Arial"/>
                <a:ea typeface="Arial"/>
              </a:rPr>
              <a:t>Approve, skip, or record a new promise</a:t>
            </a:r>
            <a:endParaRPr/>
          </a:p>
        </p:txBody>
      </p:sp>
      <p:sp>
        <p:nvSpPr>
          <p:cNvPr id="75" name="" descr="{&quot;isTemplate&quot;:true,&quot;type&quot;:&quot;text&quot;}"/>
          <p:cNvSpPr txBox="1"/>
          <p:nvPr/>
        </p:nvSpPr>
        <p:spPr>
          <a:xfrm rot="0" flipH="0" flipV="0">
            <a:off x="9448800" y="2514600"/>
            <a:ext cx="2019300" cy="152400"/>
          </a:xfrm>
          <a:prstGeom prst="rect"/>
        </p:spPr>
        <p:txBody>
          <a:bodyPr wrap="none" lIns="0" tIns="0" rIns="0" bIns="0"/>
          <a:p>
            <a:pPr>
              <a:lnSpc>
                <a:spcPct val="100000"/>
              </a:lnSpc>
            </a:pPr>
            <a:r>
              <a:rPr lang="en-US" sz="975">
                <a:solidFill>
                  <a:srgbClr val="64748B"/>
                </a:solidFill>
                <a:latin typeface="Arial"/>
                <a:ea typeface="Arial"/>
              </a:rPr>
              <a:t>human</a:t>
            </a:r>
            <a:endParaRPr/>
          </a:p>
        </p:txBody>
      </p:sp>
      <p:sp>
        <p:nvSpPr>
          <p:cNvPr id="76" name=""/>
          <p:cNvSpPr/>
          <p:nvPr/>
        </p:nvSpPr>
        <p:spPr>
          <a:xfrm rot="0" flipH="0" flipV="0">
            <a:off x="571500" y="3505200"/>
            <a:ext cx="11049000" cy="9525"/>
          </a:xfrm>
          <a:prstGeom prst="rect">
            <a:avLst/>
          </a:prstGeom>
          <a:solidFill>
            <a:srgbClr val="E2E8F0"/>
          </a:solidFill>
          <a:ln/>
        </p:spPr>
        <p:txBody>
          <a:bodyPr/>
          <a:p/>
        </p:txBody>
      </p:sp>
      <p:sp>
        <p:nvSpPr>
          <p:cNvPr id="77" name="" descr="{&quot;isTemplate&quot;:true,&quot;type&quot;:&quot;text&quot;}"/>
          <p:cNvSpPr txBox="1"/>
          <p:nvPr/>
        </p:nvSpPr>
        <p:spPr>
          <a:xfrm rot="0" flipH="0" flipV="0">
            <a:off x="571500" y="3762375"/>
            <a:ext cx="628650" cy="1190625"/>
          </a:xfrm>
          <a:prstGeom prst="rect"/>
        </p:spPr>
        <p:txBody>
          <a:bodyPr wrap="none" lIns="0" tIns="0" rIns="0" bIns="0"/>
          <a:p>
            <a:pPr>
              <a:lnSpc>
                <a:spcPct val="100000"/>
              </a:lnSpc>
            </a:pPr>
            <a:r>
              <a:rPr lang="en-US" sz="7800" b="1">
                <a:solidFill>
                  <a:srgbClr val="0F172A"/>
                </a:solidFill>
                <a:latin typeface="Arial"/>
                <a:ea typeface="Arial"/>
              </a:rPr>
              <a:t>4</a:t>
            </a:r>
            <a:endParaRPr/>
          </a:p>
        </p:txBody>
      </p:sp>
      <p:sp>
        <p:nvSpPr>
          <p:cNvPr id="78" name="" descr="{&quot;isTemplate&quot;:true,&quot;type&quot;:&quot;text&quot;}"/>
          <p:cNvSpPr txBox="1"/>
          <p:nvPr/>
        </p:nvSpPr>
        <p:spPr>
          <a:xfrm rot="0" flipH="0" flipV="0">
            <a:off x="1352550" y="3914775"/>
            <a:ext cx="3143250" cy="981075"/>
          </a:xfrm>
          <a:prstGeom prst="rect"/>
        </p:spPr>
        <p:txBody>
          <a:bodyPr wrap="square" lIns="0" tIns="0" rIns="0" bIns="0">
            <a:normAutofit/>
          </a:bodyPr>
          <a:p>
            <a:pPr>
              <a:lnSpc>
                <a:spcPct val="150000"/>
              </a:lnSpc>
            </a:pPr>
            <a:r>
              <a:rPr lang="en-US" sz="1425">
                <a:solidFill>
                  <a:srgbClr val="1E293B"/>
                </a:solidFill>
                <a:latin typeface="Arial"/>
                <a:ea typeface="Arial"/>
              </a:rPr>
              <a:t xml:space="preserve">drafts, one per </a:t>
            </a:r>
            <a:r>
              <a:rPr lang="en-US" sz="1425" b="1">
                <a:solidFill>
                  <a:srgbClr val="1E293B"/>
                </a:solidFill>
                <a:latin typeface="Arial"/>
                <a:ea typeface="Arial"/>
              </a:rPr>
              <a:t>broken</a:t>
            </a:r>
            <a:r>
              <a:rPr lang="en-US" sz="1425">
                <a:solidFill>
                  <a:srgbClr val="1E293B"/>
                </a:solidFill>
                <a:latin typeface="Arial"/>
                <a:ea typeface="Arial"/>
              </a:rPr>
              <a:t xml:space="preserve"> promise — each quoting the date the customer gave.</a:t>
            </a:r>
            <a:endParaRPr/>
          </a:p>
        </p:txBody>
      </p:sp>
      <p:sp>
        <p:nvSpPr>
          <p:cNvPr id="79" name=""/>
          <p:cNvSpPr/>
          <p:nvPr/>
        </p:nvSpPr>
        <p:spPr>
          <a:xfrm rot="0" flipH="0" flipV="0">
            <a:off x="5753100" y="3924300"/>
            <a:ext cx="9525" cy="1028700"/>
          </a:xfrm>
          <a:prstGeom prst="rect">
            <a:avLst/>
          </a:prstGeom>
          <a:solidFill>
            <a:srgbClr val="E2E8F0"/>
          </a:solidFill>
          <a:ln/>
        </p:spPr>
        <p:txBody>
          <a:bodyPr/>
          <a:p/>
        </p:txBody>
      </p:sp>
      <p:sp>
        <p:nvSpPr>
          <p:cNvPr id="80" name="" descr="{&quot;isTemplate&quot;:true,&quot;type&quot;:&quot;text&quot;}"/>
          <p:cNvSpPr txBox="1"/>
          <p:nvPr/>
        </p:nvSpPr>
        <p:spPr>
          <a:xfrm rot="0" flipH="0" flipV="0">
            <a:off x="6143625" y="3762375"/>
            <a:ext cx="628650" cy="1190625"/>
          </a:xfrm>
          <a:prstGeom prst="rect"/>
        </p:spPr>
        <p:txBody>
          <a:bodyPr wrap="none" lIns="0" tIns="0" rIns="0" bIns="0"/>
          <a:p>
            <a:pPr>
              <a:lnSpc>
                <a:spcPct val="100000"/>
              </a:lnSpc>
            </a:pPr>
            <a:r>
              <a:rPr lang="en-US" sz="7800" b="1">
                <a:solidFill>
                  <a:srgbClr val="F59E0B"/>
                </a:solidFill>
                <a:latin typeface="Arial"/>
                <a:ea typeface="Arial"/>
              </a:rPr>
              <a:t>0</a:t>
            </a:r>
            <a:endParaRPr/>
          </a:p>
        </p:txBody>
      </p:sp>
      <p:sp>
        <p:nvSpPr>
          <p:cNvPr id="81" name="" descr="{&quot;isTemplate&quot;:true,&quot;type&quot;:&quot;text&quot;}"/>
          <p:cNvSpPr txBox="1"/>
          <p:nvPr/>
        </p:nvSpPr>
        <p:spPr>
          <a:xfrm rot="0" flipH="0" flipV="0">
            <a:off x="6924675" y="4238625"/>
            <a:ext cx="3143250" cy="657225"/>
          </a:xfrm>
          <a:prstGeom prst="rect"/>
        </p:spPr>
        <p:txBody>
          <a:bodyPr wrap="square" lIns="0" tIns="0" rIns="0" bIns="0">
            <a:normAutofit/>
          </a:bodyPr>
          <a:p>
            <a:pPr>
              <a:lnSpc>
                <a:spcPct val="150000"/>
              </a:lnSpc>
            </a:pPr>
            <a:r>
              <a:rPr lang="en-US" sz="1425">
                <a:solidFill>
                  <a:srgbClr val="1E293B"/>
                </a:solidFill>
                <a:latin typeface="Arial"/>
                <a:ea typeface="Arial"/>
              </a:rPr>
              <a:t xml:space="preserve">drafts while the promise still holds. </a:t>
            </a:r>
            <a:r>
              <a:rPr lang="en-US" sz="1425" b="1">
                <a:solidFill>
                  <a:srgbClr val="1E293B"/>
                </a:solidFill>
                <a:latin typeface="Arial"/>
                <a:ea typeface="Arial"/>
              </a:rPr>
              <a:t>Not sending is a feature.</a:t>
            </a:r>
            <a:endParaRPr/>
          </a:p>
        </p:txBody>
      </p:sp>
      <p:sp>
        <p:nvSpPr>
          <p:cNvPr id="82" name="" descr="{&quot;isTemplate&quot;:true,&quot;type&quot;:&quot;text&quot;}"/>
          <p:cNvSpPr txBox="1"/>
          <p:nvPr/>
        </p:nvSpPr>
        <p:spPr>
          <a:xfrm rot="0" flipH="0" flipV="0">
            <a:off x="571500" y="6038850"/>
            <a:ext cx="11049000" cy="247650"/>
          </a:xfrm>
          <a:prstGeom prst="rect"/>
        </p:spPr>
        <p:txBody>
          <a:bodyPr wrap="none" lIns="0" tIns="0" rIns="0" bIns="0"/>
          <a:p>
            <a:pPr>
              <a:lnSpc>
                <a:spcPct val="140000"/>
              </a:lnSpc>
            </a:pPr>
            <a:r>
              <a:rPr lang="en-US" sz="1125">
                <a:solidFill>
                  <a:srgbClr val="64748B"/>
                </a:solidFill>
                <a:latin typeface="Arial"/>
                <a:ea typeface="Arial"/>
              </a:rPr>
              <a:t>Live build: one click returns 4 drafts and holds 1 — standard-library Python, no model key needed.</a:t>
            </a:r>
            <a:endParaRPr/>
          </a:p>
        </p:txBody>
      </p:sp>
      <p:sp>
        <p:nvSpPr>
          <p:cNvPr id="83" name="" descr="{&quot;isTemplate&quot;:true,&quot;type&quot;:&quot;text&quot;}"/>
          <p:cNvSpPr txBox="1"/>
          <p:nvPr/>
        </p:nvSpPr>
        <p:spPr>
          <a:xfrm rot="0" flipH="0" flipV="0">
            <a:off x="571500" y="6505575"/>
            <a:ext cx="2076450" cy="161925"/>
          </a:xfrm>
          <a:prstGeom prst="rect"/>
        </p:spPr>
        <p:txBody>
          <a:bodyPr wrap="none" lIns="0" tIns="0" rIns="0" bIns="0"/>
          <a:p>
            <a:pPr>
              <a:lnSpc>
                <a:spcPct val="100000"/>
              </a:lnSpc>
            </a:pPr>
            <a:r>
              <a:rPr lang="en-US" sz="1050">
                <a:solidFill>
                  <a:srgbClr val="94A3B8"/>
                </a:solidFill>
                <a:latin typeface="Arial"/>
                <a:ea typeface="Arial"/>
              </a:rPr>
              <a:t>CollectLoop · RREF COLLECTION</a:t>
            </a:r>
            <a:endParaRPr/>
          </a:p>
        </p:txBody>
      </p:sp>
      <p:sp>
        <p:nvSpPr>
          <p:cNvPr id="84" name="" descr="{&quot;isTemplate&quot;:true,&quot;type&quot;:&quot;text&quot;}"/>
          <p:cNvSpPr txBox="1"/>
          <p:nvPr/>
        </p:nvSpPr>
        <p:spPr>
          <a:xfrm rot="0" flipH="0" flipV="0">
            <a:off x="11458575" y="6496050"/>
            <a:ext cx="161925" cy="171450"/>
          </a:xfrm>
          <a:prstGeom prst="rect"/>
        </p:spPr>
        <p:txBody>
          <a:bodyPr wrap="none" lIns="0" tIns="0" rIns="0" bIns="0"/>
          <a:p>
            <a:pPr>
              <a:lnSpc>
                <a:spcPct val="100000"/>
              </a:lnSpc>
            </a:pPr>
            <a:r>
              <a:rPr lang="en-US" sz="1125">
                <a:solidFill>
                  <a:srgbClr val="94A3B8"/>
                </a:solidFill>
                <a:latin typeface="Arial"/>
                <a:ea typeface="Arial"/>
              </a:rPr>
              <a:t>04</a:t>
            </a:r>
            <a:endParaRPr/>
          </a:p>
        </p:txBody>
      </p:sp>
    </p:spTree>
  </p:cSld>
</p:sld>
</file>

<file path=ppt/slides/slide5.xml><?xml version="1.0" encoding="utf-8"?>
<p:sld xmlns:p="http://schemas.openxmlformats.org/presentationml/2006/main" xmlns:a="http://schemas.openxmlformats.org/drawingml/2006/main">
  <p:cSld>
    <p:spTree>
      <p:nvGrpSpPr>
        <p:cNvPr id="85" name="" descr="&lt;Slide style={{ width: 1280, height: 720, padding: 60, background: '#FFFFFF', fontFamily: 'Arial', flexDirection: 'column' }}&gt;&#10;  &lt;Text style={{ fontSize: 34, fontWeight: 'bold', color: '#0F172A', lineHeight: 1.18, letterSpacing: -0.6 }}&gt;&#10;    The model writes one paragraph. The rules decide money.&#10;  &lt;/Text&gt;&#10;  &lt;Box style={{ height: 1, background: '#E2E8F0', marginTop: 16 }} /&gt;&#10;&#10;  &lt;Box style={{ flexDirection: 'row', marginTop: 28, height: 384 }}&gt;&#10;    &lt;Box style={{ width: 540, flexDirection: 'column' }}&gt;&#10;      &lt;Text style={{ fontSize: 13, fontWeight: 'bold', color: '#2563EB', letterSpacing: 1.6 }}&gt;WHAT THE MODEL MAY DO&lt;/Text&gt;&#10;      &lt;Box style={{ height: 18 }} /&gt;&#10;&#10;      &lt;Text style={{ fontSize: 19, fontWeight: 'bold', color: '#0F172A', lineHeight: 1.35 }}&gt;Write.&lt;/Text&gt;&#10;      &lt;Text style={{ fontSize: 19, color: '#1E293B', lineHeight: 1.55, marginTop: 10 }}&gt;&#10;        Ten fields go in — all read from the ledger or computed by the rule layer. Nothing comes from the open internet, so there is nothing to hallucinate from.&#10;      &lt;/Text&gt;&#10;&#10;      &lt;Box style={{ height: 1, background: '#E2E8F0', marginTop: 24, marginBottom: 24 }} /&gt;&#10;&#10;      &lt;Text style={{ fontSize: 19, fontWeight: 'bold', color: '#0F172A', lineHeight: 1.35 }}&gt;Stay inside the prompt.&lt;/Text&gt;&#10;      &lt;Text style={{ fontSize: 19, color: '#1E293B', lineHeight: 1.55, marginTop: 10 }}&gt;&#10;        The system prompt forbids inventing a payment detail, a discount or a threat, and requires it to name the broken promise date when one is on record.&#10;      &lt;/Text&gt;&#10;    &lt;/Box&gt;&#10;&#10;    &lt;Box style={{ width: 1, background: '#E2E8F0', marginLeft: 40, marginRight: 40 }} /&gt;&#10;&#10;    &lt;Box style={{ width: 539, flexDirection: 'column' }}&gt;&#10;      &lt;Text style={{ fontSize: 13, fontWeight: 'bold', color: '#B45309', letterSpacing: 1.6 }}&gt;WHAT IT CANNOT DO&lt;/Text&gt;&#10;      &lt;Box style={{ height: 18 }} /&gt;&#10;&#10;      &lt;Box style={{ flexDirection: 'column', gap: 16 }}&gt;&#10;        &lt;Text style={{ fontSize: 19, color: '#1E293B', lineHeight: 1.5 }}&gt;Choose which customer gets chased.&lt;/Text&gt;&#10;        &lt;Text style={{ fontSize: 19, color: '#1E293B', lineHeight: 1.5 }}&gt;Move a due date, or forgive one.&lt;/Text&gt;&#10;        &lt;Text style={{ fontSize: 19, color: '#1E293B', lineHeight: 1.5 }}&gt;Send anything, to anyone.&lt;/Text&gt;&#10;      &lt;/Box&gt;&#10;&#10;      &lt;Box style={{ height: 24 }} /&gt;&#10;      &lt;Box style={{ flexDirection: 'row', alignItems: 'flex-end' }}&gt;&#10;        &lt;Text style={{ fontSize: 64, fontWeight: 'bold', color: '#0F172A', lineHeight: 1 }}&gt;0&lt;/Text&gt;&#10;        &lt;Text style={{ fontSize: 19, color: '#1E293B', lineHeight: 1.5, marginLeft: 16, width: 400, marginBottom: 4 }}&gt;&#10;          model keys required to run the demo — with none configured it falls back to a template and&#10;          the product still works.&#10;        &lt;/Text&gt;&#10;      &lt;/Box&gt;&#10;    &lt;/Box&gt;&#10;  &lt;/Box&gt;&#10;&#10;  &lt;Box style={{ flex: 1 }} /&gt;&#10;&#10;  &lt;Box style={{ height: 96, background: '#EFF6FF', borderRadius: 8, padding: '18px 24px', flexDirection: 'row', alignItems: 'center' }}&gt;&#10;    &lt;Text style={{ width: 210, fontSize: 15, fontWeight: 'bold', color: '#2563EB', letterSpacing: 0.4 }}&gt;&#10;      WHY NOT LET IT DECIDE?&#10;    &lt;/Text&gt;&#10;    &lt;Text style={{ flex: 1, fontSize: 19, color: '#0F172A', lineHeight: 1.5 }}&gt;&#10;      Determinism, one sentence of explanation to a customer, and liability — if the tone is wrong,&#10;      the supplier answers for it, not the model.&#10;    &lt;/Text&gt;&#10;  &lt;/Box&gt;&#10;&#10;  &lt;Text style={{ position: 'absolute', left: 60, bottom: 20, fontSize: 14, color: '#94A3B8' }}&gt;CollectLoop · RREF COLLECTION&lt;/Text&gt;&#10;  &lt;Text style={{ position: 'absolute', right: 60, bottom: 20, fontSize: 15, color: '#94A3B8' }}&gt;05&lt;/Text&gt;&#10;&lt;/Slide&gt;&#10;"/>
        <p:cNvGrpSpPr/>
        <p:nvPr/>
      </p:nvGrpSpPr>
      <p:grpSpPr>
        <a:xfrm>
          <a:off x="0" y="0"/>
          <a:ext cx="0" cy="0"/>
          <a:chOff x="0" y="0"/>
          <a:chExt cx="0" cy="0"/>
        </a:xfrm>
      </p:grpSpPr>
      <p:sp>
        <p:nvSpPr>
          <p:cNvPr id="86" name=""/>
          <p:cNvSpPr/>
          <p:nvPr/>
        </p:nvSpPr>
        <p:spPr>
          <a:xfrm rot="0" flipH="0" flipV="0">
            <a:off x="0" y="0"/>
            <a:ext cx="12192000" cy="6858000"/>
          </a:xfrm>
          <a:prstGeom prst="rect">
            <a:avLst/>
          </a:prstGeom>
          <a:solidFill>
            <a:srgbClr val="FFFFFF"/>
          </a:solidFill>
          <a:ln/>
        </p:spPr>
        <p:txBody>
          <a:bodyPr/>
          <a:p/>
        </p:txBody>
      </p:sp>
      <p:sp>
        <p:nvSpPr>
          <p:cNvPr id="87" name="" descr="{&quot;isTemplate&quot;:true,&quot;type&quot;:&quot;text&quot;}"/>
          <p:cNvSpPr txBox="1"/>
          <p:nvPr/>
        </p:nvSpPr>
        <p:spPr>
          <a:xfrm rot="0" flipH="0" flipV="0">
            <a:off x="571500" y="571500"/>
            <a:ext cx="11049000" cy="466725"/>
          </a:xfrm>
          <a:prstGeom prst="rect"/>
        </p:spPr>
        <p:txBody>
          <a:bodyPr wrap="none" lIns="0" tIns="0" rIns="0" bIns="0"/>
          <a:p>
            <a:pPr>
              <a:lnSpc>
                <a:spcPct val="118000"/>
              </a:lnSpc>
            </a:pPr>
            <a:r>
              <a:rPr lang="en-US" sz="2550" b="1" spc="-45">
                <a:solidFill>
                  <a:srgbClr val="0F172A"/>
                </a:solidFill>
                <a:latin typeface="Arial"/>
                <a:ea typeface="Arial"/>
              </a:rPr>
              <a:t>The model writes one paragraph. The rules decide money.</a:t>
            </a:r>
            <a:endParaRPr/>
          </a:p>
        </p:txBody>
      </p:sp>
      <p:sp>
        <p:nvSpPr>
          <p:cNvPr id="88" name=""/>
          <p:cNvSpPr/>
          <p:nvPr/>
        </p:nvSpPr>
        <p:spPr>
          <a:xfrm rot="0" flipH="0" flipV="0">
            <a:off x="571500" y="1190625"/>
            <a:ext cx="11049000" cy="9525"/>
          </a:xfrm>
          <a:prstGeom prst="rect">
            <a:avLst/>
          </a:prstGeom>
          <a:solidFill>
            <a:srgbClr val="E2E8F0"/>
          </a:solidFill>
          <a:ln/>
        </p:spPr>
        <p:txBody>
          <a:bodyPr/>
          <a:p/>
        </p:txBody>
      </p:sp>
      <p:sp>
        <p:nvSpPr>
          <p:cNvPr id="89" name="" descr="{&quot;isTemplate&quot;:true,&quot;type&quot;:&quot;text&quot;}"/>
          <p:cNvSpPr txBox="1"/>
          <p:nvPr/>
        </p:nvSpPr>
        <p:spPr>
          <a:xfrm rot="0" flipH="0" flipV="0">
            <a:off x="571500" y="1466850"/>
            <a:ext cx="5143500" cy="152400"/>
          </a:xfrm>
          <a:prstGeom prst="rect"/>
        </p:spPr>
        <p:txBody>
          <a:bodyPr wrap="none" lIns="0" tIns="0" rIns="0" bIns="0"/>
          <a:p>
            <a:pPr>
              <a:lnSpc>
                <a:spcPct val="100000"/>
              </a:lnSpc>
            </a:pPr>
            <a:r>
              <a:rPr lang="en-US" sz="975" b="1" spc="120">
                <a:solidFill>
                  <a:srgbClr val="2563EB"/>
                </a:solidFill>
                <a:latin typeface="Arial"/>
                <a:ea typeface="Arial"/>
              </a:rPr>
              <a:t>WHAT THE MODEL MAY DO</a:t>
            </a:r>
            <a:endParaRPr/>
          </a:p>
        </p:txBody>
      </p:sp>
      <p:sp>
        <p:nvSpPr>
          <p:cNvPr id="90" name="" descr="{&quot;isTemplate&quot;:true,&quot;type&quot;:&quot;text&quot;}"/>
          <p:cNvSpPr txBox="1"/>
          <p:nvPr/>
        </p:nvSpPr>
        <p:spPr>
          <a:xfrm rot="0" flipH="0" flipV="0">
            <a:off x="571500" y="1790700"/>
            <a:ext cx="5143500" cy="295275"/>
          </a:xfrm>
          <a:prstGeom prst="rect"/>
        </p:spPr>
        <p:txBody>
          <a:bodyPr wrap="none" lIns="0" tIns="0" rIns="0" bIns="0"/>
          <a:p>
            <a:pPr>
              <a:lnSpc>
                <a:spcPct val="135000"/>
              </a:lnSpc>
            </a:pPr>
            <a:r>
              <a:rPr lang="en-US" sz="1425" b="1">
                <a:solidFill>
                  <a:srgbClr val="0F172A"/>
                </a:solidFill>
                <a:latin typeface="Arial"/>
                <a:ea typeface="Arial"/>
              </a:rPr>
              <a:t>Write.</a:t>
            </a:r>
            <a:endParaRPr/>
          </a:p>
        </p:txBody>
      </p:sp>
      <p:sp>
        <p:nvSpPr>
          <p:cNvPr id="91" name="" descr="{&quot;isTemplate&quot;:true,&quot;type&quot;:&quot;text&quot;}"/>
          <p:cNvSpPr txBox="1"/>
          <p:nvPr/>
        </p:nvSpPr>
        <p:spPr>
          <a:xfrm rot="0" flipH="0" flipV="0">
            <a:off x="571500" y="2181225"/>
            <a:ext cx="5143500" cy="1019175"/>
          </a:xfrm>
          <a:prstGeom prst="rect"/>
        </p:spPr>
        <p:txBody>
          <a:bodyPr wrap="square" lIns="0" tIns="0" rIns="0" bIns="0">
            <a:normAutofit/>
          </a:bodyPr>
          <a:p>
            <a:pPr>
              <a:lnSpc>
                <a:spcPct val="155000"/>
              </a:lnSpc>
            </a:pPr>
            <a:r>
              <a:rPr lang="en-US" sz="1425">
                <a:solidFill>
                  <a:srgbClr val="1E293B"/>
                </a:solidFill>
                <a:latin typeface="Arial"/>
                <a:ea typeface="Arial"/>
              </a:rPr>
              <a:t>Ten fields go in — all read from the ledger or computed by the rule layer. Nothing comes from the open internet, so there is nothing to hallucinate from.</a:t>
            </a:r>
            <a:endParaRPr/>
          </a:p>
        </p:txBody>
      </p:sp>
      <p:sp>
        <p:nvSpPr>
          <p:cNvPr id="92" name=""/>
          <p:cNvSpPr/>
          <p:nvPr/>
        </p:nvSpPr>
        <p:spPr>
          <a:xfrm rot="0" flipH="0" flipV="0">
            <a:off x="571500" y="3429000"/>
            <a:ext cx="5143500" cy="9525"/>
          </a:xfrm>
          <a:prstGeom prst="rect">
            <a:avLst/>
          </a:prstGeom>
          <a:solidFill>
            <a:srgbClr val="E2E8F0"/>
          </a:solidFill>
          <a:ln/>
        </p:spPr>
        <p:txBody>
          <a:bodyPr/>
          <a:p/>
        </p:txBody>
      </p:sp>
      <p:sp>
        <p:nvSpPr>
          <p:cNvPr id="93" name="" descr="{&quot;isTemplate&quot;:true,&quot;type&quot;:&quot;text&quot;}"/>
          <p:cNvSpPr txBox="1"/>
          <p:nvPr/>
        </p:nvSpPr>
        <p:spPr>
          <a:xfrm rot="0" flipH="0" flipV="0">
            <a:off x="571500" y="3667125"/>
            <a:ext cx="5143500" cy="295275"/>
          </a:xfrm>
          <a:prstGeom prst="rect"/>
        </p:spPr>
        <p:txBody>
          <a:bodyPr wrap="none" lIns="0" tIns="0" rIns="0" bIns="0"/>
          <a:p>
            <a:pPr>
              <a:lnSpc>
                <a:spcPct val="135000"/>
              </a:lnSpc>
            </a:pPr>
            <a:r>
              <a:rPr lang="en-US" sz="1425" b="1">
                <a:solidFill>
                  <a:srgbClr val="0F172A"/>
                </a:solidFill>
                <a:latin typeface="Arial"/>
                <a:ea typeface="Arial"/>
              </a:rPr>
              <a:t>Stay inside the prompt.</a:t>
            </a:r>
            <a:endParaRPr/>
          </a:p>
        </p:txBody>
      </p:sp>
      <p:sp>
        <p:nvSpPr>
          <p:cNvPr id="94" name="" descr="{&quot;isTemplate&quot;:true,&quot;type&quot;:&quot;text&quot;}"/>
          <p:cNvSpPr txBox="1"/>
          <p:nvPr/>
        </p:nvSpPr>
        <p:spPr>
          <a:xfrm rot="0" flipH="0" flipV="0">
            <a:off x="571500" y="4057650"/>
            <a:ext cx="5143500" cy="1019175"/>
          </a:xfrm>
          <a:prstGeom prst="rect"/>
        </p:spPr>
        <p:txBody>
          <a:bodyPr wrap="square" lIns="0" tIns="0" rIns="0" bIns="0">
            <a:normAutofit/>
          </a:bodyPr>
          <a:p>
            <a:pPr>
              <a:lnSpc>
                <a:spcPct val="155000"/>
              </a:lnSpc>
            </a:pPr>
            <a:r>
              <a:rPr lang="en-US" sz="1425">
                <a:solidFill>
                  <a:srgbClr val="1E293B"/>
                </a:solidFill>
                <a:latin typeface="Arial"/>
                <a:ea typeface="Arial"/>
              </a:rPr>
              <a:t>The system prompt forbids inventing a payment detail, a discount or a threat, and requires it to name the broken promise date when one is on record.</a:t>
            </a:r>
            <a:endParaRPr/>
          </a:p>
        </p:txBody>
      </p:sp>
      <p:sp>
        <p:nvSpPr>
          <p:cNvPr id="95" name=""/>
          <p:cNvSpPr/>
          <p:nvPr/>
        </p:nvSpPr>
        <p:spPr>
          <a:xfrm rot="0" flipH="0" flipV="0">
            <a:off x="6096000" y="1466850"/>
            <a:ext cx="9525" cy="3657600"/>
          </a:xfrm>
          <a:prstGeom prst="rect">
            <a:avLst/>
          </a:prstGeom>
          <a:solidFill>
            <a:srgbClr val="E2E8F0"/>
          </a:solidFill>
          <a:ln/>
        </p:spPr>
        <p:txBody>
          <a:bodyPr/>
          <a:p/>
        </p:txBody>
      </p:sp>
      <p:sp>
        <p:nvSpPr>
          <p:cNvPr id="96" name="" descr="{&quot;isTemplate&quot;:true,&quot;type&quot;:&quot;text&quot;}"/>
          <p:cNvSpPr txBox="1"/>
          <p:nvPr/>
        </p:nvSpPr>
        <p:spPr>
          <a:xfrm rot="0" flipH="0" flipV="0">
            <a:off x="6486525" y="1466850"/>
            <a:ext cx="5133975" cy="152400"/>
          </a:xfrm>
          <a:prstGeom prst="rect"/>
        </p:spPr>
        <p:txBody>
          <a:bodyPr wrap="none" lIns="0" tIns="0" rIns="0" bIns="0"/>
          <a:p>
            <a:pPr>
              <a:lnSpc>
                <a:spcPct val="100000"/>
              </a:lnSpc>
            </a:pPr>
            <a:r>
              <a:rPr lang="en-US" sz="975" b="1" spc="120">
                <a:solidFill>
                  <a:srgbClr val="B45309"/>
                </a:solidFill>
                <a:latin typeface="Arial"/>
                <a:ea typeface="Arial"/>
              </a:rPr>
              <a:t>WHAT IT CANNOT DO</a:t>
            </a:r>
            <a:endParaRPr/>
          </a:p>
        </p:txBody>
      </p:sp>
      <p:sp>
        <p:nvSpPr>
          <p:cNvPr id="97" name="" descr="{&quot;isTemplate&quot;:true,&quot;type&quot;:&quot;text&quot;}"/>
          <p:cNvSpPr txBox="1"/>
          <p:nvPr/>
        </p:nvSpPr>
        <p:spPr>
          <a:xfrm rot="0" flipH="0" flipV="0">
            <a:off x="6486525" y="1790700"/>
            <a:ext cx="5133975" cy="333375"/>
          </a:xfrm>
          <a:prstGeom prst="rect"/>
        </p:spPr>
        <p:txBody>
          <a:bodyPr wrap="none" lIns="0" tIns="0" rIns="0" bIns="0"/>
          <a:p>
            <a:pPr>
              <a:lnSpc>
                <a:spcPct val="150000"/>
              </a:lnSpc>
            </a:pPr>
            <a:r>
              <a:rPr lang="en-US" sz="1425">
                <a:solidFill>
                  <a:srgbClr val="1E293B"/>
                </a:solidFill>
                <a:latin typeface="Arial"/>
                <a:ea typeface="Arial"/>
              </a:rPr>
              <a:t>Choose which customer gets chased.</a:t>
            </a:r>
            <a:endParaRPr/>
          </a:p>
        </p:txBody>
      </p:sp>
      <p:sp>
        <p:nvSpPr>
          <p:cNvPr id="98" name="" descr="{&quot;isTemplate&quot;:true,&quot;type&quot;:&quot;text&quot;}"/>
          <p:cNvSpPr txBox="1"/>
          <p:nvPr/>
        </p:nvSpPr>
        <p:spPr>
          <a:xfrm rot="0" flipH="0" flipV="0">
            <a:off x="6486525" y="2276475"/>
            <a:ext cx="5133975" cy="333375"/>
          </a:xfrm>
          <a:prstGeom prst="rect"/>
        </p:spPr>
        <p:txBody>
          <a:bodyPr wrap="none" lIns="0" tIns="0" rIns="0" bIns="0"/>
          <a:p>
            <a:pPr>
              <a:lnSpc>
                <a:spcPct val="150000"/>
              </a:lnSpc>
            </a:pPr>
            <a:r>
              <a:rPr lang="en-US" sz="1425">
                <a:solidFill>
                  <a:srgbClr val="1E293B"/>
                </a:solidFill>
                <a:latin typeface="Arial"/>
                <a:ea typeface="Arial"/>
              </a:rPr>
              <a:t>Move a due date, or forgive one.</a:t>
            </a:r>
            <a:endParaRPr/>
          </a:p>
        </p:txBody>
      </p:sp>
      <p:sp>
        <p:nvSpPr>
          <p:cNvPr id="99" name="" descr="{&quot;isTemplate&quot;:true,&quot;type&quot;:&quot;text&quot;}"/>
          <p:cNvSpPr txBox="1"/>
          <p:nvPr/>
        </p:nvSpPr>
        <p:spPr>
          <a:xfrm rot="0" flipH="0" flipV="0">
            <a:off x="6486525" y="2762250"/>
            <a:ext cx="5133975" cy="333375"/>
          </a:xfrm>
          <a:prstGeom prst="rect"/>
        </p:spPr>
        <p:txBody>
          <a:bodyPr wrap="none" lIns="0" tIns="0" rIns="0" bIns="0"/>
          <a:p>
            <a:pPr>
              <a:lnSpc>
                <a:spcPct val="150000"/>
              </a:lnSpc>
            </a:pPr>
            <a:r>
              <a:rPr lang="en-US" sz="1425">
                <a:solidFill>
                  <a:srgbClr val="1E293B"/>
                </a:solidFill>
                <a:latin typeface="Arial"/>
                <a:ea typeface="Arial"/>
              </a:rPr>
              <a:t>Send anything, to anyone.</a:t>
            </a:r>
            <a:endParaRPr/>
          </a:p>
        </p:txBody>
      </p:sp>
      <p:sp>
        <p:nvSpPr>
          <p:cNvPr id="100" name="" descr="{&quot;isTemplate&quot;:true,&quot;type&quot;:&quot;text&quot;}"/>
          <p:cNvSpPr txBox="1"/>
          <p:nvPr/>
        </p:nvSpPr>
        <p:spPr>
          <a:xfrm rot="0" flipH="0" flipV="0">
            <a:off x="6486525" y="3609975"/>
            <a:ext cx="342900" cy="733425"/>
          </a:xfrm>
          <a:prstGeom prst="rect"/>
        </p:spPr>
        <p:txBody>
          <a:bodyPr wrap="none" lIns="0" tIns="0" rIns="0" bIns="0"/>
          <a:p>
            <a:pPr>
              <a:lnSpc>
                <a:spcPct val="100000"/>
              </a:lnSpc>
            </a:pPr>
            <a:r>
              <a:rPr lang="en-US" sz="4800" b="1">
                <a:solidFill>
                  <a:srgbClr val="0F172A"/>
                </a:solidFill>
                <a:latin typeface="Arial"/>
                <a:ea typeface="Arial"/>
              </a:rPr>
              <a:t>0</a:t>
            </a:r>
            <a:endParaRPr/>
          </a:p>
        </p:txBody>
      </p:sp>
      <p:sp>
        <p:nvSpPr>
          <p:cNvPr id="101" name="" descr="{&quot;isTemplate&quot;:true,&quot;type&quot;:&quot;text&quot;}"/>
          <p:cNvSpPr txBox="1"/>
          <p:nvPr/>
        </p:nvSpPr>
        <p:spPr>
          <a:xfrm rot="0" flipH="0" flipV="0">
            <a:off x="6981825" y="3324225"/>
            <a:ext cx="3810000" cy="981075"/>
          </a:xfrm>
          <a:prstGeom prst="rect"/>
        </p:spPr>
        <p:txBody>
          <a:bodyPr wrap="square" lIns="0" tIns="0" rIns="0" bIns="0">
            <a:normAutofit/>
          </a:bodyPr>
          <a:p>
            <a:pPr>
              <a:lnSpc>
                <a:spcPct val="150000"/>
              </a:lnSpc>
            </a:pPr>
            <a:r>
              <a:rPr lang="en-US" sz="1425">
                <a:solidFill>
                  <a:srgbClr val="1E293B"/>
                </a:solidFill>
                <a:latin typeface="Arial"/>
                <a:ea typeface="Arial"/>
              </a:rPr>
              <a:t>model keys required to run the demo — with none configured it falls back to a template and the product still works.</a:t>
            </a:r>
            <a:endParaRPr/>
          </a:p>
        </p:txBody>
      </p:sp>
      <p:sp>
        <p:nvSpPr>
          <p:cNvPr id="102" name=""/>
          <p:cNvSpPr/>
          <p:nvPr/>
        </p:nvSpPr>
        <p:spPr>
          <a:xfrm rot="0" flipH="0" flipV="0">
            <a:off x="571500" y="5372100"/>
            <a:ext cx="11049000" cy="914400"/>
          </a:xfrm>
          <a:prstGeom prst="roundRect">
            <a:avLst>
              <a:gd name="adj" fmla="val 8333"/>
            </a:avLst>
          </a:prstGeom>
          <a:solidFill>
            <a:srgbClr val="EFF6FF"/>
          </a:solidFill>
          <a:ln/>
        </p:spPr>
        <p:txBody>
          <a:bodyPr/>
          <a:p/>
        </p:txBody>
      </p:sp>
      <p:sp>
        <p:nvSpPr>
          <p:cNvPr id="103" name="" descr="{&quot;isTemplate&quot;:true,&quot;type&quot;:&quot;text&quot;}"/>
          <p:cNvSpPr txBox="1"/>
          <p:nvPr/>
        </p:nvSpPr>
        <p:spPr>
          <a:xfrm rot="0" flipH="0" flipV="0">
            <a:off x="800100" y="5743575"/>
            <a:ext cx="2000250" cy="171450"/>
          </a:xfrm>
          <a:prstGeom prst="rect"/>
        </p:spPr>
        <p:txBody>
          <a:bodyPr wrap="none" lIns="0" tIns="0" rIns="0" bIns="0"/>
          <a:p>
            <a:pPr>
              <a:lnSpc>
                <a:spcPct val="100000"/>
              </a:lnSpc>
            </a:pPr>
            <a:r>
              <a:rPr lang="en-US" sz="1125" b="1" spc="30">
                <a:solidFill>
                  <a:srgbClr val="2563EB"/>
                </a:solidFill>
                <a:latin typeface="Arial"/>
                <a:ea typeface="Arial"/>
              </a:rPr>
              <a:t>WHY NOT LET IT DECIDE?</a:t>
            </a:r>
            <a:endParaRPr/>
          </a:p>
        </p:txBody>
      </p:sp>
      <p:sp>
        <p:nvSpPr>
          <p:cNvPr id="104" name="" descr="{&quot;isTemplate&quot;:true,&quot;type&quot;:&quot;text&quot;}"/>
          <p:cNvSpPr txBox="1"/>
          <p:nvPr/>
        </p:nvSpPr>
        <p:spPr>
          <a:xfrm rot="0" flipH="0" flipV="0">
            <a:off x="2800350" y="5505450"/>
            <a:ext cx="8591550" cy="657225"/>
          </a:xfrm>
          <a:prstGeom prst="rect"/>
        </p:spPr>
        <p:txBody>
          <a:bodyPr wrap="square" lIns="0" tIns="0" rIns="0" bIns="0">
            <a:normAutofit/>
          </a:bodyPr>
          <a:p>
            <a:pPr>
              <a:lnSpc>
                <a:spcPct val="150000"/>
              </a:lnSpc>
            </a:pPr>
            <a:r>
              <a:rPr lang="en-US" sz="1425">
                <a:solidFill>
                  <a:srgbClr val="0F172A"/>
                </a:solidFill>
                <a:latin typeface="Arial"/>
                <a:ea typeface="Arial"/>
              </a:rPr>
              <a:t>Determinism, one sentence of explanation to a customer, and liability — if the tone is wrong, the supplier answers for it, not the model.</a:t>
            </a:r>
            <a:endParaRPr/>
          </a:p>
        </p:txBody>
      </p:sp>
      <p:sp>
        <p:nvSpPr>
          <p:cNvPr id="105" name="" descr="{&quot;isTemplate&quot;:true,&quot;type&quot;:&quot;text&quot;}"/>
          <p:cNvSpPr txBox="1"/>
          <p:nvPr/>
        </p:nvSpPr>
        <p:spPr>
          <a:xfrm rot="0" flipH="0" flipV="0">
            <a:off x="571500" y="6505575"/>
            <a:ext cx="2076450" cy="161925"/>
          </a:xfrm>
          <a:prstGeom prst="rect"/>
        </p:spPr>
        <p:txBody>
          <a:bodyPr wrap="none" lIns="0" tIns="0" rIns="0" bIns="0"/>
          <a:p>
            <a:pPr>
              <a:lnSpc>
                <a:spcPct val="100000"/>
              </a:lnSpc>
            </a:pPr>
            <a:r>
              <a:rPr lang="en-US" sz="1050">
                <a:solidFill>
                  <a:srgbClr val="94A3B8"/>
                </a:solidFill>
                <a:latin typeface="Arial"/>
                <a:ea typeface="Arial"/>
              </a:rPr>
              <a:t>CollectLoop · RREF COLLECTION</a:t>
            </a:r>
            <a:endParaRPr/>
          </a:p>
        </p:txBody>
      </p:sp>
      <p:sp>
        <p:nvSpPr>
          <p:cNvPr id="106" name="" descr="{&quot;isTemplate&quot;:true,&quot;type&quot;:&quot;text&quot;}"/>
          <p:cNvSpPr txBox="1"/>
          <p:nvPr/>
        </p:nvSpPr>
        <p:spPr>
          <a:xfrm rot="0" flipH="0" flipV="0">
            <a:off x="11458575" y="6496050"/>
            <a:ext cx="161925" cy="171450"/>
          </a:xfrm>
          <a:prstGeom prst="rect"/>
        </p:spPr>
        <p:txBody>
          <a:bodyPr wrap="none" lIns="0" tIns="0" rIns="0" bIns="0"/>
          <a:p>
            <a:pPr>
              <a:lnSpc>
                <a:spcPct val="100000"/>
              </a:lnSpc>
            </a:pPr>
            <a:r>
              <a:rPr lang="en-US" sz="1125">
                <a:solidFill>
                  <a:srgbClr val="94A3B8"/>
                </a:solidFill>
                <a:latin typeface="Arial"/>
                <a:ea typeface="Arial"/>
              </a:rPr>
              <a:t>05</a:t>
            </a:r>
            <a:endParaRPr/>
          </a:p>
        </p:txBody>
      </p:sp>
    </p:spTree>
  </p:cSld>
</p:sld>
</file>

<file path=ppt/slides/slide6.xml><?xml version="1.0" encoding="utf-8"?>
<p:sld xmlns:p="http://schemas.openxmlformats.org/presentationml/2006/main" xmlns:a="http://schemas.openxmlformats.org/drawingml/2006/main">
  <p:cSld>
    <p:spTree>
      <p:nvGrpSpPr>
        <p:cNvPr id="107" name="" descr="&lt;Slide style={{ width: 1280, height: 720, padding: 60, background: '#FFFFFF', fontFamily: 'Arial', flexDirection: 'column' }}&gt;&#10;  &lt;Text style={{ fontSize: 34, fontWeight: 'bold', color: '#0F172A', lineHeight: 1.18, letterSpacing: -0.6 }}&gt;&#10;    Seven things Orbyte already has. We wrote none of them.&#10;  &lt;/Text&gt;&#10;  &lt;Box style={{ height: 1, background: '#E2E8F0', marginTop: 16 }} /&gt;&#10;&#10;  &lt;Box style={{ flexDirection: 'row', marginTop: 26 }}&gt;&#10;    &lt;Box style={{ width: 258, flexDirection: 'column' }}&gt;&#10;      &lt;Text style={{ fontSize: 20, fontWeight: 'bold', color: '#2563EB', lineHeight: 1.4 }}&gt;&#10;        This is a module an SME switches on, not a system it migrates to.&#10;      &lt;/Text&gt;&#10;      &lt;Text style={{ fontSize: 16, color: '#475569', lineHeight: 1.55, marginTop: 16 }}&gt;&#10;        Our whole integration surface is an export format Orbyte already emits — one normaliser,&#10;        no migration, no second login.&#10;      &lt;/Text&gt;&#10;    &lt;/Box&gt;&#10;&#10;    &lt;Box style={{ width: 862, marginLeft: 40, flexDirection: 'column' }}&gt;&#10;      &lt;Box style={{ flexDirection: 'row', gap: 16 }}&gt;&#10;        &lt;Box style={{ width: 203, height: 140, background: '#EFF6FF', borderRadius: 8, padding: 16, flexDirection: 'column' }}&gt;&#10;          &lt;Text style={{ fontSize: 18, fontWeight: 'bold', color: '#0F172A' }}&gt;Identity&lt;/Text&gt;&#10;          &lt;Text style={{ fontSize: 15, color: '#475569', lineHeight: 1.45, marginTop: 8 }}&gt;Users and roles come from the platform.&lt;/Text&gt;&#10;        &lt;/Box&gt;&#10;        &lt;Box style={{ width: 203, height: 140, background: '#EFF6FF', borderRadius: 8, padding: 16, flexDirection: 'column' }}&gt;&#10;          &lt;Text style={{ fontSize: 18, fontWeight: 'bold', color: '#0F172A' }}&gt;Approvals&lt;/Text&gt;&#10;          &lt;Text style={{ fontSize: 15, color: '#475569', lineHeight: 1.45, marginTop: 8 }}&gt;The approve / skip step is theirs.&lt;/Text&gt;&#10;        &lt;/Box&gt;&#10;        &lt;Box style={{ width: 203, height: 140, background: '#EFF6FF', borderRadius: 8, padding: 16, flexDirection: 'column' }}&gt;&#10;          &lt;Text style={{ fontSize: 18, fontWeight: 'bold', color: '#0F172A' }}&gt;Audit trail&lt;/Text&gt;&#10;          &lt;Text style={{ fontSize: 15, color: '#475569', lineHeight: 1.45, marginTop: 8 }}&gt;We append to it; we did not build it.&lt;/Text&gt;&#10;        &lt;/Box&gt;&#10;        &lt;Box style={{ width: 203, height: 140, background: '#EFF6FF', borderRadius: 8, padding: 16, flexDirection: 'column' }}&gt;&#10;          &lt;Text style={{ fontSize: 18, fontWeight: 'bold', color: '#0F172A' }}&gt;Notifications&lt;/Text&gt;&#10;          &lt;Text style={{ fontSize: 15, color: '#475569', lineHeight: 1.45, marginTop: 8 }}&gt;Email and in-app delivery.&lt;/Text&gt;&#10;        &lt;/Box&gt;&#10;      &lt;/Box&gt;&#10;&#10;      &lt;Box style={{ flexDirection: 'row', gap: 16, marginTop: 16 }}&gt;&#10;        &lt;Box style={{ width: 203, height: 140, background: '#EFF6FF', borderRadius: 8, padding: 16, flexDirection: 'column' }}&gt;&#10;          &lt;Text style={{ fontSize: 18, fontWeight: 'bold', color: '#0F172A' }}&gt;Document storage&lt;/Text&gt;&#10;          &lt;Text style={{ fontSize: 15, color: '#475569', lineHeight: 1.45, marginTop: 8 }}&gt;Invoice files live where they already live.&lt;/Text&gt;&#10;        &lt;/Box&gt;&#10;        &lt;Box style={{ width: 203, height: 140, border: '1px dashed #CBD5E1', borderRadius: 8, padding: 16, flexDirection: 'column' }}&gt;&#10;          &lt;Text style={{ fontSize: 18, fontWeight: 'bold', color: '#64748B' }}&gt;AI business context&lt;/Text&gt;&#10;          &lt;Text style={{ fontSize: 15, color: '#94A3B8', lineHeight: 1.45, marginTop: 8 }}&gt;Planned. Declared as planned.&lt;/Text&gt;&#10;        &lt;/Box&gt;&#10;        &lt;Box style={{ width: 203, height: 140, border: '1px dashed #CBD5E1', borderRadius: 8, padding: 16, flexDirection: 'column' }}&gt;&#10;          &lt;Text style={{ fontSize: 18, fontWeight: 'bold', color: '#64748B' }}&gt;Customer records&lt;/Text&gt;&#10;          &lt;Text style={{ fontSize: 15, color: '#94A3B8', lineHeight: 1.45, marginTop: 8 }}&gt;Planned. Declared as planned.&lt;/Text&gt;&#10;        &lt;/Box&gt;&#10;        &lt;Box style={{ width: 203, height: 140, flexDirection: 'column', justifyContent: 'flex-end' }}&gt;&#10;          &lt;Text style={{ fontSize: 56, fontWeight: 'bold', color: '#0F172A', lineHeight: 1 }}&gt;5&lt;/Text&gt;&#10;          &lt;Text style={{ fontSize: 15, color: '#475569', lineHeight: 1.45, marginTop: 6 }}&gt;consumed today, out of seven.&lt;/Text&gt;&#10;        &lt;/Box&gt;&#10;      &lt;/Box&gt;&#10;    &lt;/Box&gt;&#10;  &lt;/Box&gt;&#10;&#10;  &lt;Box style={{ flex: 1 }} /&gt;&#10;&#10;  &lt;Box style={{ height: 78, background: '#EFF6FF', borderRadius: 8, padding: '18px 24px', flexDirection: 'row', alignItems: 'center' }}&gt;&#10;    &lt;Text style={{ width: 200, fontSize: 15, fontWeight: 'bold', color: '#2563EB', letterSpacing: 0.4 }}&gt;WHAT WE DID WRITE&lt;/Text&gt;&#10;    &lt;Text style={{ flex: 1, fontSize: 18, color: '#0F172A', lineHeight: 1.5 }}&gt;&#10;      The promise ledger, the rule layer that decides tone, and the review screen — roughly 900 lines&#10;      of standard-library Python, and nothing else.&#10;    &lt;/Text&gt;&#10;  &lt;/Box&gt;&#10;&#10;  &lt;Text style={{ position: 'absolute', left: 60, bottom: 20, fontSize: 14, color: '#94A3B8' }}&gt;CollectLoop · RREF COLLECTION&lt;/Text&gt;&#10;  &lt;Text style={{ position: 'absolute', right: 60, bottom: 20, fontSize: 15, color: '#94A3B8' }}&gt;06&lt;/Text&gt;&#10;&lt;/Slide&gt;&#10;"/>
        <p:cNvGrpSpPr/>
        <p:nvPr/>
      </p:nvGrpSpPr>
      <p:grpSpPr>
        <a:xfrm>
          <a:off x="0" y="0"/>
          <a:ext cx="0" cy="0"/>
          <a:chOff x="0" y="0"/>
          <a:chExt cx="0" cy="0"/>
        </a:xfrm>
      </p:grpSpPr>
      <p:sp>
        <p:nvSpPr>
          <p:cNvPr id="108" name=""/>
          <p:cNvSpPr/>
          <p:nvPr/>
        </p:nvSpPr>
        <p:spPr>
          <a:xfrm rot="0" flipH="0" flipV="0">
            <a:off x="0" y="0"/>
            <a:ext cx="12192000" cy="6858000"/>
          </a:xfrm>
          <a:prstGeom prst="rect">
            <a:avLst/>
          </a:prstGeom>
          <a:solidFill>
            <a:srgbClr val="FFFFFF"/>
          </a:solidFill>
          <a:ln/>
        </p:spPr>
        <p:txBody>
          <a:bodyPr/>
          <a:p/>
        </p:txBody>
      </p:sp>
      <p:sp>
        <p:nvSpPr>
          <p:cNvPr id="109" name="" descr="{&quot;isTemplate&quot;:true,&quot;type&quot;:&quot;text&quot;}"/>
          <p:cNvSpPr txBox="1"/>
          <p:nvPr/>
        </p:nvSpPr>
        <p:spPr>
          <a:xfrm rot="0" flipH="0" flipV="0">
            <a:off x="571500" y="571500"/>
            <a:ext cx="11049000" cy="466725"/>
          </a:xfrm>
          <a:prstGeom prst="rect"/>
        </p:spPr>
        <p:txBody>
          <a:bodyPr wrap="none" lIns="0" tIns="0" rIns="0" bIns="0"/>
          <a:p>
            <a:pPr>
              <a:lnSpc>
                <a:spcPct val="118000"/>
              </a:lnSpc>
            </a:pPr>
            <a:r>
              <a:rPr lang="en-US" sz="2550" b="1" spc="-45">
                <a:solidFill>
                  <a:srgbClr val="0F172A"/>
                </a:solidFill>
                <a:latin typeface="Arial"/>
                <a:ea typeface="Arial"/>
              </a:rPr>
              <a:t>Seven things Orbyte already has. We wrote none of them.</a:t>
            </a:r>
            <a:endParaRPr/>
          </a:p>
        </p:txBody>
      </p:sp>
      <p:sp>
        <p:nvSpPr>
          <p:cNvPr id="110" name=""/>
          <p:cNvSpPr/>
          <p:nvPr/>
        </p:nvSpPr>
        <p:spPr>
          <a:xfrm rot="0" flipH="0" flipV="0">
            <a:off x="571500" y="1190625"/>
            <a:ext cx="11049000" cy="9525"/>
          </a:xfrm>
          <a:prstGeom prst="rect">
            <a:avLst/>
          </a:prstGeom>
          <a:solidFill>
            <a:srgbClr val="E2E8F0"/>
          </a:solidFill>
          <a:ln/>
        </p:spPr>
        <p:txBody>
          <a:bodyPr/>
          <a:p/>
        </p:txBody>
      </p:sp>
      <p:sp>
        <p:nvSpPr>
          <p:cNvPr id="111" name="" descr="{&quot;isTemplate&quot;:true,&quot;type&quot;:&quot;text&quot;}"/>
          <p:cNvSpPr txBox="1"/>
          <p:nvPr/>
        </p:nvSpPr>
        <p:spPr>
          <a:xfrm rot="0" flipH="0" flipV="0">
            <a:off x="571500" y="1447800"/>
            <a:ext cx="2457450" cy="962025"/>
          </a:xfrm>
          <a:prstGeom prst="rect"/>
        </p:spPr>
        <p:txBody>
          <a:bodyPr wrap="square" lIns="0" tIns="0" rIns="0" bIns="0">
            <a:normAutofit/>
          </a:bodyPr>
          <a:p>
            <a:pPr>
              <a:lnSpc>
                <a:spcPct val="140000"/>
              </a:lnSpc>
            </a:pPr>
            <a:r>
              <a:rPr lang="en-US" sz="1500" b="1">
                <a:solidFill>
                  <a:srgbClr val="2563EB"/>
                </a:solidFill>
                <a:latin typeface="Arial"/>
                <a:ea typeface="Arial"/>
              </a:rPr>
              <a:t>This is a module an SME switches on, not a system it migrates to.</a:t>
            </a:r>
            <a:endParaRPr/>
          </a:p>
        </p:txBody>
      </p:sp>
      <p:sp>
        <p:nvSpPr>
          <p:cNvPr id="112" name="" descr="{&quot;isTemplate&quot;:true,&quot;type&quot;:&quot;text&quot;}"/>
          <p:cNvSpPr txBox="1"/>
          <p:nvPr/>
        </p:nvSpPr>
        <p:spPr>
          <a:xfrm rot="0" flipH="0" flipV="0">
            <a:off x="571500" y="2562225"/>
            <a:ext cx="2457450" cy="1143000"/>
          </a:xfrm>
          <a:prstGeom prst="rect"/>
        </p:spPr>
        <p:txBody>
          <a:bodyPr wrap="square" lIns="0" tIns="0" rIns="0" bIns="0">
            <a:normAutofit/>
          </a:bodyPr>
          <a:p>
            <a:pPr>
              <a:lnSpc>
                <a:spcPct val="155000"/>
              </a:lnSpc>
            </a:pPr>
            <a:r>
              <a:rPr lang="en-US" sz="1200">
                <a:solidFill>
                  <a:srgbClr val="475569"/>
                </a:solidFill>
                <a:latin typeface="Arial"/>
                <a:ea typeface="Arial"/>
              </a:rPr>
              <a:t>Our whole integration surface is an export format Orbyte already emits — one normaliser, no migration, no second login.</a:t>
            </a:r>
            <a:endParaRPr/>
          </a:p>
        </p:txBody>
      </p:sp>
      <p:sp>
        <p:nvSpPr>
          <p:cNvPr id="113" name=""/>
          <p:cNvSpPr/>
          <p:nvPr/>
        </p:nvSpPr>
        <p:spPr>
          <a:xfrm rot="0" flipH="0" flipV="0">
            <a:off x="3409950" y="1447800"/>
            <a:ext cx="1933575" cy="1333500"/>
          </a:xfrm>
          <a:prstGeom prst="roundRect">
            <a:avLst>
              <a:gd name="adj" fmla="val 5714"/>
            </a:avLst>
          </a:prstGeom>
          <a:solidFill>
            <a:srgbClr val="EFF6FF"/>
          </a:solidFill>
          <a:ln/>
        </p:spPr>
        <p:txBody>
          <a:bodyPr/>
          <a:p/>
        </p:txBody>
      </p:sp>
      <p:sp>
        <p:nvSpPr>
          <p:cNvPr id="114" name="" descr="{&quot;isTemplate&quot;:true,&quot;type&quot;:&quot;text&quot;}"/>
          <p:cNvSpPr txBox="1"/>
          <p:nvPr/>
        </p:nvSpPr>
        <p:spPr>
          <a:xfrm rot="0" flipH="0" flipV="0">
            <a:off x="3562350" y="1600200"/>
            <a:ext cx="1628775" cy="209550"/>
          </a:xfrm>
          <a:prstGeom prst="rect"/>
        </p:spPr>
        <p:txBody>
          <a:bodyPr wrap="none" lIns="0" tIns="0" rIns="0" bIns="0"/>
          <a:p>
            <a:pPr>
              <a:lnSpc>
                <a:spcPct val="100000"/>
              </a:lnSpc>
            </a:pPr>
            <a:r>
              <a:rPr lang="en-US" sz="1350" b="1">
                <a:solidFill>
                  <a:srgbClr val="0F172A"/>
                </a:solidFill>
                <a:latin typeface="Arial"/>
                <a:ea typeface="Arial"/>
              </a:rPr>
              <a:t>Identity</a:t>
            </a:r>
            <a:endParaRPr/>
          </a:p>
        </p:txBody>
      </p:sp>
      <p:sp>
        <p:nvSpPr>
          <p:cNvPr id="115" name="" descr="{&quot;isTemplate&quot;:true,&quot;type&quot;:&quot;text&quot;}"/>
          <p:cNvSpPr txBox="1"/>
          <p:nvPr/>
        </p:nvSpPr>
        <p:spPr>
          <a:xfrm rot="0" flipH="0" flipV="0">
            <a:off x="3562350" y="1885950"/>
            <a:ext cx="1628775" cy="504825"/>
          </a:xfrm>
          <a:prstGeom prst="rect"/>
        </p:spPr>
        <p:txBody>
          <a:bodyPr wrap="square" lIns="0" tIns="0" rIns="0" bIns="0">
            <a:normAutofit/>
          </a:bodyPr>
          <a:p>
            <a:pPr>
              <a:lnSpc>
                <a:spcPct val="145000"/>
              </a:lnSpc>
            </a:pPr>
            <a:r>
              <a:rPr lang="en-US" sz="1125">
                <a:solidFill>
                  <a:srgbClr val="475569"/>
                </a:solidFill>
                <a:latin typeface="Arial"/>
                <a:ea typeface="Arial"/>
              </a:rPr>
              <a:t>Users and roles come from the platform.</a:t>
            </a:r>
            <a:endParaRPr/>
          </a:p>
        </p:txBody>
      </p:sp>
      <p:sp>
        <p:nvSpPr>
          <p:cNvPr id="116" name=""/>
          <p:cNvSpPr/>
          <p:nvPr/>
        </p:nvSpPr>
        <p:spPr>
          <a:xfrm rot="0" flipH="0" flipV="0">
            <a:off x="5495925" y="1447800"/>
            <a:ext cx="1933575" cy="1333500"/>
          </a:xfrm>
          <a:prstGeom prst="roundRect">
            <a:avLst>
              <a:gd name="adj" fmla="val 5714"/>
            </a:avLst>
          </a:prstGeom>
          <a:solidFill>
            <a:srgbClr val="EFF6FF"/>
          </a:solidFill>
          <a:ln/>
        </p:spPr>
        <p:txBody>
          <a:bodyPr/>
          <a:p/>
        </p:txBody>
      </p:sp>
      <p:sp>
        <p:nvSpPr>
          <p:cNvPr id="117" name="" descr="{&quot;isTemplate&quot;:true,&quot;type&quot;:&quot;text&quot;}"/>
          <p:cNvSpPr txBox="1"/>
          <p:nvPr/>
        </p:nvSpPr>
        <p:spPr>
          <a:xfrm rot="0" flipH="0" flipV="0">
            <a:off x="5648325" y="1600200"/>
            <a:ext cx="1628775" cy="209550"/>
          </a:xfrm>
          <a:prstGeom prst="rect"/>
        </p:spPr>
        <p:txBody>
          <a:bodyPr wrap="none" lIns="0" tIns="0" rIns="0" bIns="0"/>
          <a:p>
            <a:pPr>
              <a:lnSpc>
                <a:spcPct val="100000"/>
              </a:lnSpc>
            </a:pPr>
            <a:r>
              <a:rPr lang="en-US" sz="1350" b="1">
                <a:solidFill>
                  <a:srgbClr val="0F172A"/>
                </a:solidFill>
                <a:latin typeface="Arial"/>
                <a:ea typeface="Arial"/>
              </a:rPr>
              <a:t>Approvals</a:t>
            </a:r>
            <a:endParaRPr/>
          </a:p>
        </p:txBody>
      </p:sp>
      <p:sp>
        <p:nvSpPr>
          <p:cNvPr id="118" name="" descr="{&quot;isTemplate&quot;:true,&quot;type&quot;:&quot;text&quot;}"/>
          <p:cNvSpPr txBox="1"/>
          <p:nvPr/>
        </p:nvSpPr>
        <p:spPr>
          <a:xfrm rot="0" flipH="0" flipV="0">
            <a:off x="5648325" y="1885950"/>
            <a:ext cx="1628775" cy="504825"/>
          </a:xfrm>
          <a:prstGeom prst="rect"/>
        </p:spPr>
        <p:txBody>
          <a:bodyPr wrap="square" lIns="0" tIns="0" rIns="0" bIns="0">
            <a:normAutofit/>
          </a:bodyPr>
          <a:p>
            <a:pPr>
              <a:lnSpc>
                <a:spcPct val="145000"/>
              </a:lnSpc>
            </a:pPr>
            <a:r>
              <a:rPr lang="en-US" sz="1125">
                <a:solidFill>
                  <a:srgbClr val="475569"/>
                </a:solidFill>
                <a:latin typeface="Arial"/>
                <a:ea typeface="Arial"/>
              </a:rPr>
              <a:t>The approve / skip step is theirs.</a:t>
            </a:r>
            <a:endParaRPr/>
          </a:p>
        </p:txBody>
      </p:sp>
      <p:sp>
        <p:nvSpPr>
          <p:cNvPr id="119" name=""/>
          <p:cNvSpPr/>
          <p:nvPr/>
        </p:nvSpPr>
        <p:spPr>
          <a:xfrm rot="0" flipH="0" flipV="0">
            <a:off x="7581900" y="1447800"/>
            <a:ext cx="1933575" cy="1333500"/>
          </a:xfrm>
          <a:prstGeom prst="roundRect">
            <a:avLst>
              <a:gd name="adj" fmla="val 5714"/>
            </a:avLst>
          </a:prstGeom>
          <a:solidFill>
            <a:srgbClr val="EFF6FF"/>
          </a:solidFill>
          <a:ln/>
        </p:spPr>
        <p:txBody>
          <a:bodyPr/>
          <a:p/>
        </p:txBody>
      </p:sp>
      <p:sp>
        <p:nvSpPr>
          <p:cNvPr id="120" name="" descr="{&quot;isTemplate&quot;:true,&quot;type&quot;:&quot;text&quot;}"/>
          <p:cNvSpPr txBox="1"/>
          <p:nvPr/>
        </p:nvSpPr>
        <p:spPr>
          <a:xfrm rot="0" flipH="0" flipV="0">
            <a:off x="7734300" y="1600200"/>
            <a:ext cx="1628775" cy="209550"/>
          </a:xfrm>
          <a:prstGeom prst="rect"/>
        </p:spPr>
        <p:txBody>
          <a:bodyPr wrap="none" lIns="0" tIns="0" rIns="0" bIns="0"/>
          <a:p>
            <a:pPr>
              <a:lnSpc>
                <a:spcPct val="100000"/>
              </a:lnSpc>
            </a:pPr>
            <a:r>
              <a:rPr lang="en-US" sz="1350" b="1">
                <a:solidFill>
                  <a:srgbClr val="0F172A"/>
                </a:solidFill>
                <a:latin typeface="Arial"/>
                <a:ea typeface="Arial"/>
              </a:rPr>
              <a:t>Audit trail</a:t>
            </a:r>
            <a:endParaRPr/>
          </a:p>
        </p:txBody>
      </p:sp>
      <p:sp>
        <p:nvSpPr>
          <p:cNvPr id="121" name="" descr="{&quot;isTemplate&quot;:true,&quot;type&quot;:&quot;text&quot;}"/>
          <p:cNvSpPr txBox="1"/>
          <p:nvPr/>
        </p:nvSpPr>
        <p:spPr>
          <a:xfrm rot="0" flipH="0" flipV="0">
            <a:off x="7734300" y="1885950"/>
            <a:ext cx="1628775" cy="504825"/>
          </a:xfrm>
          <a:prstGeom prst="rect"/>
        </p:spPr>
        <p:txBody>
          <a:bodyPr wrap="square" lIns="0" tIns="0" rIns="0" bIns="0">
            <a:normAutofit/>
          </a:bodyPr>
          <a:p>
            <a:pPr>
              <a:lnSpc>
                <a:spcPct val="145000"/>
              </a:lnSpc>
            </a:pPr>
            <a:r>
              <a:rPr lang="en-US" sz="1125">
                <a:solidFill>
                  <a:srgbClr val="475569"/>
                </a:solidFill>
                <a:latin typeface="Arial"/>
                <a:ea typeface="Arial"/>
              </a:rPr>
              <a:t>We append to it; we did not build it.</a:t>
            </a:r>
            <a:endParaRPr/>
          </a:p>
        </p:txBody>
      </p:sp>
      <p:sp>
        <p:nvSpPr>
          <p:cNvPr id="122" name=""/>
          <p:cNvSpPr/>
          <p:nvPr/>
        </p:nvSpPr>
        <p:spPr>
          <a:xfrm rot="0" flipH="0" flipV="0">
            <a:off x="9667875" y="1447800"/>
            <a:ext cx="1933575" cy="1333500"/>
          </a:xfrm>
          <a:prstGeom prst="roundRect">
            <a:avLst>
              <a:gd name="adj" fmla="val 5714"/>
            </a:avLst>
          </a:prstGeom>
          <a:solidFill>
            <a:srgbClr val="EFF6FF"/>
          </a:solidFill>
          <a:ln/>
        </p:spPr>
        <p:txBody>
          <a:bodyPr/>
          <a:p/>
        </p:txBody>
      </p:sp>
      <p:sp>
        <p:nvSpPr>
          <p:cNvPr id="123" name="" descr="{&quot;isTemplate&quot;:true,&quot;type&quot;:&quot;text&quot;}"/>
          <p:cNvSpPr txBox="1"/>
          <p:nvPr/>
        </p:nvSpPr>
        <p:spPr>
          <a:xfrm rot="0" flipH="0" flipV="0">
            <a:off x="9820275" y="1600200"/>
            <a:ext cx="1628775" cy="209550"/>
          </a:xfrm>
          <a:prstGeom prst="rect"/>
        </p:spPr>
        <p:txBody>
          <a:bodyPr wrap="none" lIns="0" tIns="0" rIns="0" bIns="0"/>
          <a:p>
            <a:pPr>
              <a:lnSpc>
                <a:spcPct val="100000"/>
              </a:lnSpc>
            </a:pPr>
            <a:r>
              <a:rPr lang="en-US" sz="1350" b="1">
                <a:solidFill>
                  <a:srgbClr val="0F172A"/>
                </a:solidFill>
                <a:latin typeface="Arial"/>
                <a:ea typeface="Arial"/>
              </a:rPr>
              <a:t>Notifications</a:t>
            </a:r>
            <a:endParaRPr/>
          </a:p>
        </p:txBody>
      </p:sp>
      <p:sp>
        <p:nvSpPr>
          <p:cNvPr id="124" name="" descr="{&quot;isTemplate&quot;:true,&quot;type&quot;:&quot;text&quot;}"/>
          <p:cNvSpPr txBox="1"/>
          <p:nvPr/>
        </p:nvSpPr>
        <p:spPr>
          <a:xfrm rot="0" flipH="0" flipV="0">
            <a:off x="9820275" y="1885950"/>
            <a:ext cx="1628775" cy="504825"/>
          </a:xfrm>
          <a:prstGeom prst="rect"/>
        </p:spPr>
        <p:txBody>
          <a:bodyPr wrap="square" lIns="0" tIns="0" rIns="0" bIns="0">
            <a:normAutofit/>
          </a:bodyPr>
          <a:p>
            <a:pPr>
              <a:lnSpc>
                <a:spcPct val="145000"/>
              </a:lnSpc>
            </a:pPr>
            <a:r>
              <a:rPr lang="en-US" sz="1125">
                <a:solidFill>
                  <a:srgbClr val="475569"/>
                </a:solidFill>
                <a:latin typeface="Arial"/>
                <a:ea typeface="Arial"/>
              </a:rPr>
              <a:t>Email and in-app delivery.</a:t>
            </a:r>
            <a:endParaRPr/>
          </a:p>
        </p:txBody>
      </p:sp>
      <p:sp>
        <p:nvSpPr>
          <p:cNvPr id="125" name=""/>
          <p:cNvSpPr/>
          <p:nvPr/>
        </p:nvSpPr>
        <p:spPr>
          <a:xfrm rot="0" flipH="0" flipV="0">
            <a:off x="3409950" y="2933700"/>
            <a:ext cx="1933575" cy="1333500"/>
          </a:xfrm>
          <a:prstGeom prst="roundRect">
            <a:avLst>
              <a:gd name="adj" fmla="val 5714"/>
            </a:avLst>
          </a:prstGeom>
          <a:solidFill>
            <a:srgbClr val="EFF6FF"/>
          </a:solidFill>
          <a:ln/>
        </p:spPr>
        <p:txBody>
          <a:bodyPr/>
          <a:p/>
        </p:txBody>
      </p:sp>
      <p:sp>
        <p:nvSpPr>
          <p:cNvPr id="126" name="" descr="{&quot;isTemplate&quot;:true,&quot;type&quot;:&quot;text&quot;}"/>
          <p:cNvSpPr txBox="1"/>
          <p:nvPr/>
        </p:nvSpPr>
        <p:spPr>
          <a:xfrm rot="0" flipH="0" flipV="0">
            <a:off x="3562350" y="3086100"/>
            <a:ext cx="1628775" cy="209550"/>
          </a:xfrm>
          <a:prstGeom prst="rect"/>
        </p:spPr>
        <p:txBody>
          <a:bodyPr wrap="none" lIns="0" tIns="0" rIns="0" bIns="0"/>
          <a:p>
            <a:pPr>
              <a:lnSpc>
                <a:spcPct val="100000"/>
              </a:lnSpc>
            </a:pPr>
            <a:r>
              <a:rPr lang="en-US" sz="1350" b="1">
                <a:solidFill>
                  <a:srgbClr val="0F172A"/>
                </a:solidFill>
                <a:latin typeface="Arial"/>
                <a:ea typeface="Arial"/>
              </a:rPr>
              <a:t>Document storage</a:t>
            </a:r>
            <a:endParaRPr/>
          </a:p>
        </p:txBody>
      </p:sp>
      <p:sp>
        <p:nvSpPr>
          <p:cNvPr id="127" name="" descr="{&quot;isTemplate&quot;:true,&quot;type&quot;:&quot;text&quot;}"/>
          <p:cNvSpPr txBox="1"/>
          <p:nvPr/>
        </p:nvSpPr>
        <p:spPr>
          <a:xfrm rot="0" flipH="0" flipV="0">
            <a:off x="3562350" y="3371850"/>
            <a:ext cx="1628775" cy="504825"/>
          </a:xfrm>
          <a:prstGeom prst="rect"/>
        </p:spPr>
        <p:txBody>
          <a:bodyPr wrap="square" lIns="0" tIns="0" rIns="0" bIns="0">
            <a:normAutofit/>
          </a:bodyPr>
          <a:p>
            <a:pPr>
              <a:lnSpc>
                <a:spcPct val="145000"/>
              </a:lnSpc>
            </a:pPr>
            <a:r>
              <a:rPr lang="en-US" sz="1125">
                <a:solidFill>
                  <a:srgbClr val="475569"/>
                </a:solidFill>
                <a:latin typeface="Arial"/>
                <a:ea typeface="Arial"/>
              </a:rPr>
              <a:t>Invoice files live where they already live.</a:t>
            </a:r>
            <a:endParaRPr/>
          </a:p>
        </p:txBody>
      </p:sp>
      <p:sp>
        <p:nvSpPr>
          <p:cNvPr id="128" name=""/>
          <p:cNvSpPr/>
          <p:nvPr/>
        </p:nvSpPr>
        <p:spPr>
          <a:xfrm rot="0" flipH="0" flipV="0">
            <a:off x="5495925" y="2933700"/>
            <a:ext cx="1933575" cy="1333500"/>
          </a:xfrm>
          <a:prstGeom prst="roundRect">
            <a:avLst>
              <a:gd name="adj" fmla="val 5714"/>
            </a:avLst>
          </a:prstGeom>
          <a:ln w="12700">
            <a:solidFill>
              <a:srgbClr val="CBD5E1"/>
            </a:solidFill>
            <a:prstDash val="dash"/>
          </a:ln>
        </p:spPr>
        <p:txBody>
          <a:bodyPr/>
          <a:p/>
        </p:txBody>
      </p:sp>
      <p:sp>
        <p:nvSpPr>
          <p:cNvPr id="129" name="" descr="{&quot;isTemplate&quot;:true,&quot;type&quot;:&quot;text&quot;}"/>
          <p:cNvSpPr txBox="1"/>
          <p:nvPr/>
        </p:nvSpPr>
        <p:spPr>
          <a:xfrm rot="0" flipH="0" flipV="0">
            <a:off x="5648325" y="3086100"/>
            <a:ext cx="1628775" cy="209550"/>
          </a:xfrm>
          <a:prstGeom prst="rect"/>
        </p:spPr>
        <p:txBody>
          <a:bodyPr wrap="none" lIns="0" tIns="0" rIns="0" bIns="0"/>
          <a:p>
            <a:pPr>
              <a:lnSpc>
                <a:spcPct val="100000"/>
              </a:lnSpc>
            </a:pPr>
            <a:r>
              <a:rPr lang="en-US" sz="1350" b="1">
                <a:solidFill>
                  <a:srgbClr val="64748B"/>
                </a:solidFill>
                <a:latin typeface="Arial"/>
                <a:ea typeface="Arial"/>
              </a:rPr>
              <a:t>AI business context</a:t>
            </a:r>
            <a:endParaRPr/>
          </a:p>
        </p:txBody>
      </p:sp>
      <p:sp>
        <p:nvSpPr>
          <p:cNvPr id="130" name="" descr="{&quot;isTemplate&quot;:true,&quot;type&quot;:&quot;text&quot;}"/>
          <p:cNvSpPr txBox="1"/>
          <p:nvPr/>
        </p:nvSpPr>
        <p:spPr>
          <a:xfrm rot="0" flipH="0" flipV="0">
            <a:off x="5648325" y="3371850"/>
            <a:ext cx="1628775" cy="504825"/>
          </a:xfrm>
          <a:prstGeom prst="rect"/>
        </p:spPr>
        <p:txBody>
          <a:bodyPr wrap="square" lIns="0" tIns="0" rIns="0" bIns="0">
            <a:normAutofit/>
          </a:bodyPr>
          <a:p>
            <a:pPr>
              <a:lnSpc>
                <a:spcPct val="145000"/>
              </a:lnSpc>
            </a:pPr>
            <a:r>
              <a:rPr lang="en-US" sz="1125">
                <a:solidFill>
                  <a:srgbClr val="94A3B8"/>
                </a:solidFill>
                <a:latin typeface="Arial"/>
                <a:ea typeface="Arial"/>
              </a:rPr>
              <a:t>Planned. Declared as planned.</a:t>
            </a:r>
            <a:endParaRPr/>
          </a:p>
        </p:txBody>
      </p:sp>
      <p:sp>
        <p:nvSpPr>
          <p:cNvPr id="131" name=""/>
          <p:cNvSpPr/>
          <p:nvPr/>
        </p:nvSpPr>
        <p:spPr>
          <a:xfrm rot="0" flipH="0" flipV="0">
            <a:off x="7581900" y="2933700"/>
            <a:ext cx="1933575" cy="1333500"/>
          </a:xfrm>
          <a:prstGeom prst="roundRect">
            <a:avLst>
              <a:gd name="adj" fmla="val 5714"/>
            </a:avLst>
          </a:prstGeom>
          <a:ln w="12700">
            <a:solidFill>
              <a:srgbClr val="CBD5E1"/>
            </a:solidFill>
            <a:prstDash val="dash"/>
          </a:ln>
        </p:spPr>
        <p:txBody>
          <a:bodyPr/>
          <a:p/>
        </p:txBody>
      </p:sp>
      <p:sp>
        <p:nvSpPr>
          <p:cNvPr id="132" name="" descr="{&quot;isTemplate&quot;:true,&quot;type&quot;:&quot;text&quot;}"/>
          <p:cNvSpPr txBox="1"/>
          <p:nvPr/>
        </p:nvSpPr>
        <p:spPr>
          <a:xfrm rot="0" flipH="0" flipV="0">
            <a:off x="7734300" y="3086100"/>
            <a:ext cx="1628775" cy="209550"/>
          </a:xfrm>
          <a:prstGeom prst="rect"/>
        </p:spPr>
        <p:txBody>
          <a:bodyPr wrap="none" lIns="0" tIns="0" rIns="0" bIns="0"/>
          <a:p>
            <a:pPr>
              <a:lnSpc>
                <a:spcPct val="100000"/>
              </a:lnSpc>
            </a:pPr>
            <a:r>
              <a:rPr lang="en-US" sz="1350" b="1">
                <a:solidFill>
                  <a:srgbClr val="64748B"/>
                </a:solidFill>
                <a:latin typeface="Arial"/>
                <a:ea typeface="Arial"/>
              </a:rPr>
              <a:t>Customer records</a:t>
            </a:r>
            <a:endParaRPr/>
          </a:p>
        </p:txBody>
      </p:sp>
      <p:sp>
        <p:nvSpPr>
          <p:cNvPr id="133" name="" descr="{&quot;isTemplate&quot;:true,&quot;type&quot;:&quot;text&quot;}"/>
          <p:cNvSpPr txBox="1"/>
          <p:nvPr/>
        </p:nvSpPr>
        <p:spPr>
          <a:xfrm rot="0" flipH="0" flipV="0">
            <a:off x="7734300" y="3371850"/>
            <a:ext cx="1628775" cy="504825"/>
          </a:xfrm>
          <a:prstGeom prst="rect"/>
        </p:spPr>
        <p:txBody>
          <a:bodyPr wrap="square" lIns="0" tIns="0" rIns="0" bIns="0">
            <a:normAutofit/>
          </a:bodyPr>
          <a:p>
            <a:pPr>
              <a:lnSpc>
                <a:spcPct val="145000"/>
              </a:lnSpc>
            </a:pPr>
            <a:r>
              <a:rPr lang="en-US" sz="1125">
                <a:solidFill>
                  <a:srgbClr val="94A3B8"/>
                </a:solidFill>
                <a:latin typeface="Arial"/>
                <a:ea typeface="Arial"/>
              </a:rPr>
              <a:t>Planned. Declared as planned.</a:t>
            </a:r>
            <a:endParaRPr/>
          </a:p>
        </p:txBody>
      </p:sp>
      <p:sp>
        <p:nvSpPr>
          <p:cNvPr id="134" name="" descr="{&quot;isTemplate&quot;:true,&quot;type&quot;:&quot;text&quot;}"/>
          <p:cNvSpPr txBox="1"/>
          <p:nvPr/>
        </p:nvSpPr>
        <p:spPr>
          <a:xfrm rot="0" flipH="0" flipV="0">
            <a:off x="9667875" y="3057525"/>
            <a:ext cx="1933575" cy="647700"/>
          </a:xfrm>
          <a:prstGeom prst="rect"/>
        </p:spPr>
        <p:txBody>
          <a:bodyPr wrap="none" lIns="0" tIns="0" rIns="0" bIns="0"/>
          <a:p>
            <a:pPr>
              <a:lnSpc>
                <a:spcPct val="100000"/>
              </a:lnSpc>
            </a:pPr>
            <a:r>
              <a:rPr lang="en-US" sz="4200" b="1">
                <a:solidFill>
                  <a:srgbClr val="0F172A"/>
                </a:solidFill>
                <a:latin typeface="Arial"/>
                <a:ea typeface="Arial"/>
              </a:rPr>
              <a:t>5</a:t>
            </a:r>
            <a:endParaRPr/>
          </a:p>
        </p:txBody>
      </p:sp>
      <p:sp>
        <p:nvSpPr>
          <p:cNvPr id="135" name="" descr="{&quot;isTemplate&quot;:true,&quot;type&quot;:&quot;text&quot;}"/>
          <p:cNvSpPr txBox="1"/>
          <p:nvPr/>
        </p:nvSpPr>
        <p:spPr>
          <a:xfrm rot="0" flipH="0" flipV="0">
            <a:off x="9667875" y="3762375"/>
            <a:ext cx="1933575" cy="504825"/>
          </a:xfrm>
          <a:prstGeom prst="rect"/>
        </p:spPr>
        <p:txBody>
          <a:bodyPr wrap="square" lIns="0" tIns="0" rIns="0" bIns="0">
            <a:normAutofit/>
          </a:bodyPr>
          <a:p>
            <a:pPr>
              <a:lnSpc>
                <a:spcPct val="145000"/>
              </a:lnSpc>
            </a:pPr>
            <a:r>
              <a:rPr lang="en-US" sz="1125">
                <a:solidFill>
                  <a:srgbClr val="475569"/>
                </a:solidFill>
                <a:latin typeface="Arial"/>
                <a:ea typeface="Arial"/>
              </a:rPr>
              <a:t>consumed today, out of seven.</a:t>
            </a:r>
            <a:endParaRPr/>
          </a:p>
        </p:txBody>
      </p:sp>
      <p:sp>
        <p:nvSpPr>
          <p:cNvPr id="136" name=""/>
          <p:cNvSpPr/>
          <p:nvPr/>
        </p:nvSpPr>
        <p:spPr>
          <a:xfrm rot="0" flipH="0" flipV="0">
            <a:off x="571500" y="5543550"/>
            <a:ext cx="11049000" cy="742950"/>
          </a:xfrm>
          <a:prstGeom prst="roundRect">
            <a:avLst>
              <a:gd name="adj" fmla="val 10256"/>
            </a:avLst>
          </a:prstGeom>
          <a:solidFill>
            <a:srgbClr val="EFF6FF"/>
          </a:solidFill>
          <a:ln/>
        </p:spPr>
        <p:txBody>
          <a:bodyPr/>
          <a:p/>
        </p:txBody>
      </p:sp>
      <p:sp>
        <p:nvSpPr>
          <p:cNvPr id="137" name="" descr="{&quot;isTemplate&quot;:true,&quot;type&quot;:&quot;text&quot;}"/>
          <p:cNvSpPr txBox="1"/>
          <p:nvPr/>
        </p:nvSpPr>
        <p:spPr>
          <a:xfrm rot="0" flipH="0" flipV="0">
            <a:off x="800100" y="5829300"/>
            <a:ext cx="1905000" cy="171450"/>
          </a:xfrm>
          <a:prstGeom prst="rect"/>
        </p:spPr>
        <p:txBody>
          <a:bodyPr wrap="none" lIns="0" tIns="0" rIns="0" bIns="0"/>
          <a:p>
            <a:pPr>
              <a:lnSpc>
                <a:spcPct val="100000"/>
              </a:lnSpc>
            </a:pPr>
            <a:r>
              <a:rPr lang="en-US" sz="1125" b="1" spc="30">
                <a:solidFill>
                  <a:srgbClr val="2563EB"/>
                </a:solidFill>
                <a:latin typeface="Arial"/>
                <a:ea typeface="Arial"/>
              </a:rPr>
              <a:t>WHAT WE DID WRITE</a:t>
            </a:r>
            <a:endParaRPr/>
          </a:p>
        </p:txBody>
      </p:sp>
      <p:sp>
        <p:nvSpPr>
          <p:cNvPr id="138" name="" descr="{&quot;isTemplate&quot;:true,&quot;type&quot;:&quot;text&quot;}"/>
          <p:cNvSpPr txBox="1"/>
          <p:nvPr/>
        </p:nvSpPr>
        <p:spPr>
          <a:xfrm rot="0" flipH="0" flipV="0">
            <a:off x="2705100" y="5610225"/>
            <a:ext cx="8686800" cy="619125"/>
          </a:xfrm>
          <a:prstGeom prst="rect"/>
        </p:spPr>
        <p:txBody>
          <a:bodyPr wrap="square" lIns="0" tIns="0" rIns="0" bIns="0">
            <a:normAutofit/>
          </a:bodyPr>
          <a:p>
            <a:pPr>
              <a:lnSpc>
                <a:spcPct val="150000"/>
              </a:lnSpc>
            </a:pPr>
            <a:r>
              <a:rPr lang="en-US" sz="1350">
                <a:solidFill>
                  <a:srgbClr val="0F172A"/>
                </a:solidFill>
                <a:latin typeface="Arial"/>
                <a:ea typeface="Arial"/>
              </a:rPr>
              <a:t>The promise ledger, the rule layer that decides tone, and the review screen — roughly 900 lines of standard-library Python, and nothing else.</a:t>
            </a:r>
            <a:endParaRPr/>
          </a:p>
        </p:txBody>
      </p:sp>
      <p:sp>
        <p:nvSpPr>
          <p:cNvPr id="139" name="" descr="{&quot;isTemplate&quot;:true,&quot;type&quot;:&quot;text&quot;}"/>
          <p:cNvSpPr txBox="1"/>
          <p:nvPr/>
        </p:nvSpPr>
        <p:spPr>
          <a:xfrm rot="0" flipH="0" flipV="0">
            <a:off x="571500" y="6505575"/>
            <a:ext cx="2076450" cy="161925"/>
          </a:xfrm>
          <a:prstGeom prst="rect"/>
        </p:spPr>
        <p:txBody>
          <a:bodyPr wrap="none" lIns="0" tIns="0" rIns="0" bIns="0"/>
          <a:p>
            <a:pPr>
              <a:lnSpc>
                <a:spcPct val="100000"/>
              </a:lnSpc>
            </a:pPr>
            <a:r>
              <a:rPr lang="en-US" sz="1050">
                <a:solidFill>
                  <a:srgbClr val="94A3B8"/>
                </a:solidFill>
                <a:latin typeface="Arial"/>
                <a:ea typeface="Arial"/>
              </a:rPr>
              <a:t>CollectLoop · RREF COLLECTION</a:t>
            </a:r>
            <a:endParaRPr/>
          </a:p>
        </p:txBody>
      </p:sp>
      <p:sp>
        <p:nvSpPr>
          <p:cNvPr id="140" name="" descr="{&quot;isTemplate&quot;:true,&quot;type&quot;:&quot;text&quot;}"/>
          <p:cNvSpPr txBox="1"/>
          <p:nvPr/>
        </p:nvSpPr>
        <p:spPr>
          <a:xfrm rot="0" flipH="0" flipV="0">
            <a:off x="11458575" y="6496050"/>
            <a:ext cx="161925" cy="171450"/>
          </a:xfrm>
          <a:prstGeom prst="rect"/>
        </p:spPr>
        <p:txBody>
          <a:bodyPr wrap="none" lIns="0" tIns="0" rIns="0" bIns="0"/>
          <a:p>
            <a:pPr>
              <a:lnSpc>
                <a:spcPct val="100000"/>
              </a:lnSpc>
            </a:pPr>
            <a:r>
              <a:rPr lang="en-US" sz="1125">
                <a:solidFill>
                  <a:srgbClr val="94A3B8"/>
                </a:solidFill>
                <a:latin typeface="Arial"/>
                <a:ea typeface="Arial"/>
              </a:rPr>
              <a:t>06</a:t>
            </a:r>
            <a:endParaRPr/>
          </a:p>
        </p:txBody>
      </p:sp>
    </p:spTree>
  </p:cSld>
</p:sld>
</file>

<file path=ppt/slides/slide7.xml><?xml version="1.0" encoding="utf-8"?>
<p:sld xmlns:p="http://schemas.openxmlformats.org/presentationml/2006/main" xmlns:a="http://schemas.openxmlformats.org/drawingml/2006/main">
  <p:cSld>
    <p:spTree>
      <p:nvGrpSpPr>
        <p:cNvPr id="141" name="" descr="&lt;Slide style={{ width: 1280, height: 720, padding: 60, background: '#FFFFFF', fontFamily: 'Arial', flexDirection: 'column' }}&gt;&#10;  &lt;Text style={{ fontSize: 34, fontWeight: 'bold', color: '#0F172A', lineHeight: 1.18, letterSpacing: -0.6 }}&gt;&#10;    We don't sell software. We sell days of cash.&#10;  &lt;/Text&gt;&#10;  &lt;Box style={{ height: 1, background: '#E2E8F0', marginTop: 16 }} /&gt;&#10;&#10;  &lt;Box style={{ flexDirection: 'row', marginTop: 30 }}&gt;&#10;    &lt;Box style={{ width: 340, flexDirection: 'column' }}&gt;&#10;      &lt;Text style={{ fontSize: 13, fontWeight: 'bold', color: '#2563EB', letterSpacing: 1.6 }}&gt;WHAT IT REPLACES&lt;/Text&gt;&#10;&#10;      &lt;Box style={{ flexDirection: 'row', alignItems: 'flex-end', marginTop: 20 }}&gt;&#10;        &lt;Text style={{ fontSize: 56, fontWeight: 'bold', color: '#0F172A', lineHeight: 1 }}&gt;12&lt;/Text&gt;&#10;        &lt;Text style={{ fontSize: 15, color: '#64748B', marginLeft: 10, marginBottom: 8 }}&gt;min&lt;/Text&gt;&#10;        &lt;Text style={{ width: 150, fontSize: 16, color: '#1E293B', lineHeight: 1.4, marginLeft: 16, marginBottom: 4 }}&gt;&#10;          to find, check, write and file one reminder by hand&#10;        &lt;/Text&gt;&#10;      &lt;/Box&gt;&#10;&#10;      &lt;Box style={{ height: 1, background: '#E2E8F0', marginTop: 22, marginBottom: 22 }} /&gt;&#10;&#10;      &lt;Box style={{ flexDirection: 'row', alignItems: 'flex-end' }}&gt;&#10;        &lt;Text style={{ fontSize: 56, fontWeight: 'bold', color: '#2563EB', lineHeight: 1 }}&gt;1&lt;/Text&gt;&#10;        &lt;Text style={{ fontSize: 15, color: '#64748B', marginLeft: 10, marginBottom: 8 }}&gt;min&lt;/Text&gt;&#10;        &lt;Text style={{ width: 150, fontSize: 16, color: '#1E293B', lineHeight: 1.4, marginLeft: 16, marginBottom: 4 }}&gt;&#10;          to read, edit and approve a draft we wrote&#10;        &lt;/Text&gt;&#10;      &lt;/Box&gt;&#10;    &lt;/Box&gt;&#10;&#10;    &lt;Box style={{ width: 1, background: '#E2E8F0', marginLeft: 32, marginRight: 44 }} /&gt;&#10;&#10;    &lt;Box style={{ width: 743, flexDirection: 'column' }}&gt;&#10;      &lt;Box style={{ flexDirection: 'row', alignItems: 'flex-end' }}&gt;&#10;        &lt;Text style={{ fontSize: 148, fontWeight: 'bold', color: '#F59E0B', lineHeight: 0.95 }}&gt;7&lt;/Text&gt;&#10;        &lt;Box style={{ marginLeft: 18, marginBottom: 14 }}&gt;&#10;          &lt;Text style={{ fontSize: 40, fontWeight: 'bold', color: '#0F172A', lineHeight: 1.1 }}&gt;days earlier&lt;/Text&gt;&#10;          &lt;Text style={{ fontSize: 22, color: '#475569', lineHeight: 1.35, marginTop: 6 }}&gt;≈ RM 70,000 in the bank sooner&lt;/Text&gt;&#10;        &lt;/Box&gt;&#10;      &lt;/Box&gt;&#10;      &lt;Text style={{ fontSize: 19, color: '#1E293B', lineHeight: 1.55, marginTop: 18, width: 660 }}&gt;&#10;        A five-person supplier doing RM 300k a year: seven fewer days in the collection cycle is&#10;        &lt;span style={{ fontWeight: 'bold' }}&gt; roughly RM 70k of cash already earned&lt;/span&gt; — not a new&#10;        customer, not a new invoice.&#10;      &lt;/Text&gt;&#10;    &lt;/Box&gt;&#10;  &lt;/Box&gt;&#10;&#10;  &lt;Box style={{ flex: 1 }} /&gt;&#10;&#10;  &lt;Box style={{ height: 92, background: '#0F172A', borderRadius: 8, padding: '20px 24px', flexDirection: 'row', alignItems: 'center' }}&gt;&#10;    &lt;Text style={{ width: 176, fontSize: 13, fontWeight: 'bold', color: '#93C5FD', letterSpacing: 1.4 }}&gt;SDG 8 · AND A CAVEAT&lt;/Text&gt;&#10;    &lt;Text style={{ width: 498, fontSize: 18, color: '#FFFFFF', lineHeight: 1.45 }}&gt;&#10;      Small suppliers don't die of weak demand. They die of cash arriving late.&#10;    &lt;/Text&gt;&#10;    &lt;Text style={{ width: 400, fontSize: 15, color: '#94A3B8', lineHeight: 1.45, marginLeft: 20 }}&gt;&#10;      A worked example, not research. The real number comes from the customer's own ledger.&#10;    &lt;/Text&gt;&#10;  &lt;/Box&gt;&#10;&#10;  &lt;Text style={{ position: 'absolute', left: 60, bottom: 20, fontSize: 14, color: '#94A3B8' }}&gt;CollectLoop · RREF COLLECTION&lt;/Text&gt;&#10;  &lt;Text style={{ position: 'absolute', right: 60, bottom: 20, fontSize: 15, color: '#94A3B8' }}&gt;07&lt;/Text&gt;&#10;&lt;/Slide&gt;&#10;"/>
        <p:cNvGrpSpPr/>
        <p:nvPr/>
      </p:nvGrpSpPr>
      <p:grpSpPr>
        <a:xfrm>
          <a:off x="0" y="0"/>
          <a:ext cx="0" cy="0"/>
          <a:chOff x="0" y="0"/>
          <a:chExt cx="0" cy="0"/>
        </a:xfrm>
      </p:grpSpPr>
      <p:sp>
        <p:nvSpPr>
          <p:cNvPr id="142" name=""/>
          <p:cNvSpPr/>
          <p:nvPr/>
        </p:nvSpPr>
        <p:spPr>
          <a:xfrm rot="0" flipH="0" flipV="0">
            <a:off x="0" y="0"/>
            <a:ext cx="12192000" cy="6858000"/>
          </a:xfrm>
          <a:prstGeom prst="rect">
            <a:avLst/>
          </a:prstGeom>
          <a:solidFill>
            <a:srgbClr val="FFFFFF"/>
          </a:solidFill>
          <a:ln/>
        </p:spPr>
        <p:txBody>
          <a:bodyPr/>
          <a:p/>
        </p:txBody>
      </p:sp>
      <p:sp>
        <p:nvSpPr>
          <p:cNvPr id="143" name="" descr="{&quot;isTemplate&quot;:true,&quot;type&quot;:&quot;text&quot;}"/>
          <p:cNvSpPr txBox="1"/>
          <p:nvPr/>
        </p:nvSpPr>
        <p:spPr>
          <a:xfrm rot="0" flipH="0" flipV="0">
            <a:off x="571500" y="571500"/>
            <a:ext cx="11049000" cy="466725"/>
          </a:xfrm>
          <a:prstGeom prst="rect"/>
        </p:spPr>
        <p:txBody>
          <a:bodyPr wrap="none" lIns="0" tIns="0" rIns="0" bIns="0"/>
          <a:p>
            <a:pPr>
              <a:lnSpc>
                <a:spcPct val="118000"/>
              </a:lnSpc>
            </a:pPr>
            <a:r>
              <a:rPr lang="en-US" sz="2550" b="1" spc="-45">
                <a:solidFill>
                  <a:srgbClr val="0F172A"/>
                </a:solidFill>
                <a:latin typeface="Arial"/>
                <a:ea typeface="Arial"/>
              </a:rPr>
              <a:t>We don't sell software. We sell days of cash.</a:t>
            </a:r>
            <a:endParaRPr/>
          </a:p>
        </p:txBody>
      </p:sp>
      <p:sp>
        <p:nvSpPr>
          <p:cNvPr id="144" name=""/>
          <p:cNvSpPr/>
          <p:nvPr/>
        </p:nvSpPr>
        <p:spPr>
          <a:xfrm rot="0" flipH="0" flipV="0">
            <a:off x="571500" y="1190625"/>
            <a:ext cx="11049000" cy="9525"/>
          </a:xfrm>
          <a:prstGeom prst="rect">
            <a:avLst/>
          </a:prstGeom>
          <a:solidFill>
            <a:srgbClr val="E2E8F0"/>
          </a:solidFill>
          <a:ln/>
        </p:spPr>
        <p:txBody>
          <a:bodyPr/>
          <a:p/>
        </p:txBody>
      </p:sp>
      <p:sp>
        <p:nvSpPr>
          <p:cNvPr id="145" name="" descr="{&quot;isTemplate&quot;:true,&quot;type&quot;:&quot;text&quot;}"/>
          <p:cNvSpPr txBox="1"/>
          <p:nvPr/>
        </p:nvSpPr>
        <p:spPr>
          <a:xfrm rot="0" flipH="0" flipV="0">
            <a:off x="571500" y="1485900"/>
            <a:ext cx="3238500" cy="152400"/>
          </a:xfrm>
          <a:prstGeom prst="rect"/>
        </p:spPr>
        <p:txBody>
          <a:bodyPr wrap="none" lIns="0" tIns="0" rIns="0" bIns="0"/>
          <a:p>
            <a:pPr>
              <a:lnSpc>
                <a:spcPct val="100000"/>
              </a:lnSpc>
            </a:pPr>
            <a:r>
              <a:rPr lang="en-US" sz="975" b="1" spc="120">
                <a:solidFill>
                  <a:srgbClr val="2563EB"/>
                </a:solidFill>
                <a:latin typeface="Arial"/>
                <a:ea typeface="Arial"/>
              </a:rPr>
              <a:t>WHAT IT REPLACES</a:t>
            </a:r>
            <a:endParaRPr/>
          </a:p>
        </p:txBody>
      </p:sp>
      <p:sp>
        <p:nvSpPr>
          <p:cNvPr id="146" name="" descr="{&quot;isTemplate&quot;:true,&quot;type&quot;:&quot;text&quot;}"/>
          <p:cNvSpPr txBox="1"/>
          <p:nvPr/>
        </p:nvSpPr>
        <p:spPr>
          <a:xfrm rot="0" flipH="0" flipV="0">
            <a:off x="571500" y="1990725"/>
            <a:ext cx="600075" cy="647700"/>
          </a:xfrm>
          <a:prstGeom prst="rect"/>
        </p:spPr>
        <p:txBody>
          <a:bodyPr wrap="none" lIns="0" tIns="0" rIns="0" bIns="0"/>
          <a:p>
            <a:pPr>
              <a:lnSpc>
                <a:spcPct val="100000"/>
              </a:lnSpc>
            </a:pPr>
            <a:r>
              <a:rPr lang="en-US" sz="4200" b="1">
                <a:solidFill>
                  <a:srgbClr val="0F172A"/>
                </a:solidFill>
                <a:latin typeface="Arial"/>
                <a:ea typeface="Arial"/>
              </a:rPr>
              <a:t>12</a:t>
            </a:r>
            <a:endParaRPr/>
          </a:p>
        </p:txBody>
      </p:sp>
      <p:sp>
        <p:nvSpPr>
          <p:cNvPr id="147" name="" descr="{&quot;isTemplate&quot;:true,&quot;type&quot;:&quot;text&quot;}"/>
          <p:cNvSpPr txBox="1"/>
          <p:nvPr/>
        </p:nvSpPr>
        <p:spPr>
          <a:xfrm rot="0" flipH="0" flipV="0">
            <a:off x="1266825" y="2390775"/>
            <a:ext cx="238125" cy="171450"/>
          </a:xfrm>
          <a:prstGeom prst="rect"/>
        </p:spPr>
        <p:txBody>
          <a:bodyPr wrap="none" lIns="0" tIns="0" rIns="0" bIns="0"/>
          <a:p>
            <a:pPr>
              <a:lnSpc>
                <a:spcPct val="100000"/>
              </a:lnSpc>
            </a:pPr>
            <a:r>
              <a:rPr lang="en-US" sz="1125">
                <a:solidFill>
                  <a:srgbClr val="64748B"/>
                </a:solidFill>
                <a:latin typeface="Arial"/>
                <a:ea typeface="Arial"/>
              </a:rPr>
              <a:t>min</a:t>
            </a:r>
            <a:endParaRPr/>
          </a:p>
        </p:txBody>
      </p:sp>
      <p:sp>
        <p:nvSpPr>
          <p:cNvPr id="148" name="" descr="{&quot;isTemplate&quot;:true,&quot;type&quot;:&quot;text&quot;}"/>
          <p:cNvSpPr txBox="1"/>
          <p:nvPr/>
        </p:nvSpPr>
        <p:spPr>
          <a:xfrm rot="0" flipH="0" flipV="0">
            <a:off x="1657350" y="1828800"/>
            <a:ext cx="1428750" cy="771525"/>
          </a:xfrm>
          <a:prstGeom prst="rect"/>
        </p:spPr>
        <p:txBody>
          <a:bodyPr wrap="square" lIns="0" tIns="0" rIns="0" bIns="0">
            <a:normAutofit/>
          </a:bodyPr>
          <a:p>
            <a:pPr>
              <a:lnSpc>
                <a:spcPct val="140000"/>
              </a:lnSpc>
            </a:pPr>
            <a:r>
              <a:rPr lang="en-US" sz="1200">
                <a:solidFill>
                  <a:srgbClr val="1E293B"/>
                </a:solidFill>
                <a:latin typeface="Arial"/>
                <a:ea typeface="Arial"/>
              </a:rPr>
              <a:t>to find, check, write and file one reminder by hand</a:t>
            </a:r>
            <a:endParaRPr/>
          </a:p>
        </p:txBody>
      </p:sp>
      <p:sp>
        <p:nvSpPr>
          <p:cNvPr id="149" name=""/>
          <p:cNvSpPr/>
          <p:nvPr/>
        </p:nvSpPr>
        <p:spPr>
          <a:xfrm rot="0" flipH="0" flipV="0">
            <a:off x="571500" y="2847975"/>
            <a:ext cx="3238500" cy="9525"/>
          </a:xfrm>
          <a:prstGeom prst="rect">
            <a:avLst/>
          </a:prstGeom>
          <a:solidFill>
            <a:srgbClr val="E2E8F0"/>
          </a:solidFill>
          <a:ln/>
        </p:spPr>
        <p:txBody>
          <a:bodyPr/>
          <a:p/>
        </p:txBody>
      </p:sp>
      <p:sp>
        <p:nvSpPr>
          <p:cNvPr id="150" name="" descr="{&quot;isTemplate&quot;:true,&quot;type&quot;:&quot;text&quot;}"/>
          <p:cNvSpPr txBox="1"/>
          <p:nvPr/>
        </p:nvSpPr>
        <p:spPr>
          <a:xfrm rot="0" flipH="0" flipV="0">
            <a:off x="571500" y="3228975"/>
            <a:ext cx="304800" cy="647700"/>
          </a:xfrm>
          <a:prstGeom prst="rect"/>
        </p:spPr>
        <p:txBody>
          <a:bodyPr wrap="none" lIns="0" tIns="0" rIns="0" bIns="0"/>
          <a:p>
            <a:pPr>
              <a:lnSpc>
                <a:spcPct val="100000"/>
              </a:lnSpc>
            </a:pPr>
            <a:r>
              <a:rPr lang="en-US" sz="4200" b="1">
                <a:solidFill>
                  <a:srgbClr val="2563EB"/>
                </a:solidFill>
                <a:latin typeface="Arial"/>
                <a:ea typeface="Arial"/>
              </a:rPr>
              <a:t>1</a:t>
            </a:r>
            <a:endParaRPr/>
          </a:p>
        </p:txBody>
      </p:sp>
      <p:sp>
        <p:nvSpPr>
          <p:cNvPr id="151" name="" descr="{&quot;isTemplate&quot;:true,&quot;type&quot;:&quot;text&quot;}"/>
          <p:cNvSpPr txBox="1"/>
          <p:nvPr/>
        </p:nvSpPr>
        <p:spPr>
          <a:xfrm rot="0" flipH="0" flipV="0">
            <a:off x="971550" y="3629025"/>
            <a:ext cx="238125" cy="171450"/>
          </a:xfrm>
          <a:prstGeom prst="rect"/>
        </p:spPr>
        <p:txBody>
          <a:bodyPr wrap="none" lIns="0" tIns="0" rIns="0" bIns="0"/>
          <a:p>
            <a:pPr>
              <a:lnSpc>
                <a:spcPct val="100000"/>
              </a:lnSpc>
            </a:pPr>
            <a:r>
              <a:rPr lang="en-US" sz="1125">
                <a:solidFill>
                  <a:srgbClr val="64748B"/>
                </a:solidFill>
                <a:latin typeface="Arial"/>
                <a:ea typeface="Arial"/>
              </a:rPr>
              <a:t>min</a:t>
            </a:r>
            <a:endParaRPr/>
          </a:p>
        </p:txBody>
      </p:sp>
      <p:sp>
        <p:nvSpPr>
          <p:cNvPr id="152" name="" descr="{&quot;isTemplate&quot;:true,&quot;type&quot;:&quot;text&quot;}"/>
          <p:cNvSpPr txBox="1"/>
          <p:nvPr/>
        </p:nvSpPr>
        <p:spPr>
          <a:xfrm rot="0" flipH="0" flipV="0">
            <a:off x="1362075" y="3067050"/>
            <a:ext cx="1428750" cy="771525"/>
          </a:xfrm>
          <a:prstGeom prst="rect"/>
        </p:spPr>
        <p:txBody>
          <a:bodyPr wrap="square" lIns="0" tIns="0" rIns="0" bIns="0">
            <a:normAutofit/>
          </a:bodyPr>
          <a:p>
            <a:pPr>
              <a:lnSpc>
                <a:spcPct val="140000"/>
              </a:lnSpc>
            </a:pPr>
            <a:r>
              <a:rPr lang="en-US" sz="1200">
                <a:solidFill>
                  <a:srgbClr val="1E293B"/>
                </a:solidFill>
                <a:latin typeface="Arial"/>
                <a:ea typeface="Arial"/>
              </a:rPr>
              <a:t>to read, edit and approve a draft we wrote</a:t>
            </a:r>
            <a:endParaRPr/>
          </a:p>
        </p:txBody>
      </p:sp>
      <p:sp>
        <p:nvSpPr>
          <p:cNvPr id="153" name=""/>
          <p:cNvSpPr/>
          <p:nvPr/>
        </p:nvSpPr>
        <p:spPr>
          <a:xfrm rot="0" flipH="0" flipV="0">
            <a:off x="4114800" y="1485900"/>
            <a:ext cx="9525" cy="2800350"/>
          </a:xfrm>
          <a:prstGeom prst="rect">
            <a:avLst/>
          </a:prstGeom>
          <a:solidFill>
            <a:srgbClr val="E2E8F0"/>
          </a:solidFill>
          <a:ln/>
        </p:spPr>
        <p:txBody>
          <a:bodyPr/>
          <a:p/>
        </p:txBody>
      </p:sp>
      <p:sp>
        <p:nvSpPr>
          <p:cNvPr id="154" name="" descr="{&quot;isTemplate&quot;:true,&quot;type&quot;:&quot;text&quot;}"/>
          <p:cNvSpPr txBox="1"/>
          <p:nvPr/>
        </p:nvSpPr>
        <p:spPr>
          <a:xfrm rot="0" flipH="0" flipV="0">
            <a:off x="4543425" y="1485900"/>
            <a:ext cx="790575" cy="1609725"/>
          </a:xfrm>
          <a:prstGeom prst="rect"/>
        </p:spPr>
        <p:txBody>
          <a:bodyPr wrap="none" lIns="0" tIns="0" rIns="0" bIns="0"/>
          <a:p>
            <a:pPr>
              <a:lnSpc>
                <a:spcPct val="95000"/>
              </a:lnSpc>
            </a:pPr>
            <a:r>
              <a:rPr lang="en-US" sz="11100" b="1">
                <a:solidFill>
                  <a:srgbClr val="F59E0B"/>
                </a:solidFill>
                <a:latin typeface="Arial"/>
                <a:ea typeface="Arial"/>
              </a:rPr>
              <a:t>7</a:t>
            </a:r>
            <a:endParaRPr/>
          </a:p>
        </p:txBody>
      </p:sp>
      <p:sp>
        <p:nvSpPr>
          <p:cNvPr id="155" name="" descr="{&quot;isTemplate&quot;:true,&quot;type&quot;:&quot;text&quot;}"/>
          <p:cNvSpPr txBox="1"/>
          <p:nvPr/>
        </p:nvSpPr>
        <p:spPr>
          <a:xfrm rot="0" flipH="0" flipV="0">
            <a:off x="5505450" y="2057400"/>
            <a:ext cx="2981325" cy="504825"/>
          </a:xfrm>
          <a:prstGeom prst="rect"/>
        </p:spPr>
        <p:txBody>
          <a:bodyPr wrap="none" lIns="0" tIns="0" rIns="0" bIns="0"/>
          <a:p>
            <a:pPr>
              <a:lnSpc>
                <a:spcPct val="110000"/>
              </a:lnSpc>
            </a:pPr>
            <a:r>
              <a:rPr lang="en-US" sz="3000" b="1">
                <a:solidFill>
                  <a:srgbClr val="0F172A"/>
                </a:solidFill>
                <a:latin typeface="Arial"/>
                <a:ea typeface="Arial"/>
              </a:rPr>
              <a:t>days earlier</a:t>
            </a:r>
            <a:endParaRPr/>
          </a:p>
        </p:txBody>
      </p:sp>
      <p:sp>
        <p:nvSpPr>
          <p:cNvPr id="156" name="" descr="{&quot;isTemplate&quot;:true,&quot;type&quot;:&quot;text&quot;}"/>
          <p:cNvSpPr txBox="1"/>
          <p:nvPr/>
        </p:nvSpPr>
        <p:spPr>
          <a:xfrm rot="0" flipH="0" flipV="0">
            <a:off x="5505450" y="2619375"/>
            <a:ext cx="2981325" cy="342900"/>
          </a:xfrm>
          <a:prstGeom prst="rect"/>
        </p:spPr>
        <p:txBody>
          <a:bodyPr wrap="none" lIns="0" tIns="0" rIns="0" bIns="0"/>
          <a:p>
            <a:pPr>
              <a:lnSpc>
                <a:spcPct val="135000"/>
              </a:lnSpc>
            </a:pPr>
            <a:r>
              <a:rPr lang="en-US" sz="1650">
                <a:solidFill>
                  <a:srgbClr val="475569"/>
                </a:solidFill>
                <a:latin typeface="Arial"/>
                <a:ea typeface="Arial"/>
              </a:rPr>
              <a:t>≈ RM 70,000 in the bank sooner</a:t>
            </a:r>
            <a:endParaRPr/>
          </a:p>
        </p:txBody>
      </p:sp>
      <p:sp>
        <p:nvSpPr>
          <p:cNvPr id="157" name="" descr="{&quot;isTemplate&quot;:true,&quot;type&quot;:&quot;text&quot;}"/>
          <p:cNvSpPr txBox="1"/>
          <p:nvPr/>
        </p:nvSpPr>
        <p:spPr>
          <a:xfrm rot="0" flipH="0" flipV="0">
            <a:off x="4543425" y="3267075"/>
            <a:ext cx="6286500" cy="1019175"/>
          </a:xfrm>
          <a:prstGeom prst="rect"/>
        </p:spPr>
        <p:txBody>
          <a:bodyPr wrap="square" lIns="0" tIns="0" rIns="0" bIns="0">
            <a:normAutofit/>
          </a:bodyPr>
          <a:p>
            <a:pPr>
              <a:lnSpc>
                <a:spcPct val="155000"/>
              </a:lnSpc>
            </a:pPr>
            <a:r>
              <a:rPr lang="en-US" sz="1425">
                <a:solidFill>
                  <a:srgbClr val="1E293B"/>
                </a:solidFill>
                <a:latin typeface="Arial"/>
                <a:ea typeface="Arial"/>
              </a:rPr>
              <a:t>A five-person supplier doing RM 300k a year: seven fewer days in the collection cycle is</a:t>
            </a:r>
            <a:r>
              <a:rPr lang="en-US" sz="1425" b="1">
                <a:solidFill>
                  <a:srgbClr val="1E293B"/>
                </a:solidFill>
                <a:latin typeface="Arial"/>
                <a:ea typeface="Arial"/>
              </a:rPr>
              <a:t xml:space="preserve"> roughly RM 70k of cash already earned</a:t>
            </a:r>
            <a:r>
              <a:rPr lang="en-US" sz="1425">
                <a:solidFill>
                  <a:srgbClr val="1E293B"/>
                </a:solidFill>
                <a:latin typeface="Arial"/>
                <a:ea typeface="Arial"/>
              </a:rPr>
              <a:t xml:space="preserve"> — not a new customer, not a new invoice.</a:t>
            </a:r>
            <a:endParaRPr/>
          </a:p>
        </p:txBody>
      </p:sp>
      <p:sp>
        <p:nvSpPr>
          <p:cNvPr id="158" name=""/>
          <p:cNvSpPr/>
          <p:nvPr/>
        </p:nvSpPr>
        <p:spPr>
          <a:xfrm rot="0" flipH="0" flipV="0">
            <a:off x="571500" y="5410200"/>
            <a:ext cx="11049000" cy="876300"/>
          </a:xfrm>
          <a:prstGeom prst="roundRect">
            <a:avLst>
              <a:gd name="adj" fmla="val 8696"/>
            </a:avLst>
          </a:prstGeom>
          <a:solidFill>
            <a:srgbClr val="0F172A"/>
          </a:solidFill>
          <a:ln/>
        </p:spPr>
        <p:txBody>
          <a:bodyPr/>
          <a:p/>
        </p:txBody>
      </p:sp>
      <p:sp>
        <p:nvSpPr>
          <p:cNvPr id="159" name="" descr="{&quot;isTemplate&quot;:true,&quot;type&quot;:&quot;text&quot;}"/>
          <p:cNvSpPr txBox="1"/>
          <p:nvPr/>
        </p:nvSpPr>
        <p:spPr>
          <a:xfrm rot="0" flipH="0" flipV="0">
            <a:off x="800100" y="5695950"/>
            <a:ext cx="1676400" cy="304800"/>
          </a:xfrm>
          <a:prstGeom prst="rect"/>
        </p:spPr>
        <p:txBody>
          <a:bodyPr wrap="square" lIns="0" tIns="0" rIns="0" bIns="0">
            <a:normAutofit/>
          </a:bodyPr>
          <a:p>
            <a:pPr>
              <a:lnSpc>
                <a:spcPct val="100000"/>
              </a:lnSpc>
            </a:pPr>
            <a:r>
              <a:rPr lang="en-US" sz="975" b="1" spc="105">
                <a:solidFill>
                  <a:srgbClr val="93C5FD"/>
                </a:solidFill>
                <a:latin typeface="Arial"/>
                <a:ea typeface="Arial"/>
              </a:rPr>
              <a:t>SDG 8 · AND A CAVEAT</a:t>
            </a:r>
            <a:endParaRPr/>
          </a:p>
        </p:txBody>
      </p:sp>
      <p:sp>
        <p:nvSpPr>
          <p:cNvPr id="160" name="" descr="{&quot;isTemplate&quot;:true,&quot;type&quot;:&quot;text&quot;}"/>
          <p:cNvSpPr txBox="1"/>
          <p:nvPr/>
        </p:nvSpPr>
        <p:spPr>
          <a:xfrm rot="0" flipH="0" flipV="0">
            <a:off x="2476500" y="5553075"/>
            <a:ext cx="4743450" cy="600075"/>
          </a:xfrm>
          <a:prstGeom prst="rect"/>
        </p:spPr>
        <p:txBody>
          <a:bodyPr wrap="square" lIns="0" tIns="0" rIns="0" bIns="0">
            <a:normAutofit/>
          </a:bodyPr>
          <a:p>
            <a:pPr>
              <a:lnSpc>
                <a:spcPct val="145000"/>
              </a:lnSpc>
            </a:pPr>
            <a:r>
              <a:rPr lang="en-US" sz="1350">
                <a:solidFill>
                  <a:srgbClr val="FFFFFF"/>
                </a:solidFill>
                <a:latin typeface="Arial"/>
                <a:ea typeface="Arial"/>
              </a:rPr>
              <a:t>Small suppliers don't die of weak demand. They die of cash arriving late.</a:t>
            </a:r>
            <a:endParaRPr/>
          </a:p>
        </p:txBody>
      </p:sp>
      <p:sp>
        <p:nvSpPr>
          <p:cNvPr id="161" name="" descr="{&quot;isTemplate&quot;:true,&quot;type&quot;:&quot;text&quot;}"/>
          <p:cNvSpPr txBox="1"/>
          <p:nvPr/>
        </p:nvSpPr>
        <p:spPr>
          <a:xfrm rot="0" flipH="0" flipV="0">
            <a:off x="7410450" y="5600700"/>
            <a:ext cx="3810000" cy="504825"/>
          </a:xfrm>
          <a:prstGeom prst="rect"/>
        </p:spPr>
        <p:txBody>
          <a:bodyPr wrap="square" lIns="0" tIns="0" rIns="0" bIns="0">
            <a:normAutofit/>
          </a:bodyPr>
          <a:p>
            <a:pPr>
              <a:lnSpc>
                <a:spcPct val="145000"/>
              </a:lnSpc>
            </a:pPr>
            <a:r>
              <a:rPr lang="en-US" sz="1125">
                <a:solidFill>
                  <a:srgbClr val="94A3B8"/>
                </a:solidFill>
                <a:latin typeface="Arial"/>
                <a:ea typeface="Arial"/>
              </a:rPr>
              <a:t>A worked example, not research. The real number comes from the customer's own ledger.</a:t>
            </a:r>
            <a:endParaRPr/>
          </a:p>
        </p:txBody>
      </p:sp>
      <p:sp>
        <p:nvSpPr>
          <p:cNvPr id="162" name="" descr="{&quot;isTemplate&quot;:true,&quot;type&quot;:&quot;text&quot;}"/>
          <p:cNvSpPr txBox="1"/>
          <p:nvPr/>
        </p:nvSpPr>
        <p:spPr>
          <a:xfrm rot="0" flipH="0" flipV="0">
            <a:off x="571500" y="6505575"/>
            <a:ext cx="2076450" cy="161925"/>
          </a:xfrm>
          <a:prstGeom prst="rect"/>
        </p:spPr>
        <p:txBody>
          <a:bodyPr wrap="none" lIns="0" tIns="0" rIns="0" bIns="0"/>
          <a:p>
            <a:pPr>
              <a:lnSpc>
                <a:spcPct val="100000"/>
              </a:lnSpc>
            </a:pPr>
            <a:r>
              <a:rPr lang="en-US" sz="1050">
                <a:solidFill>
                  <a:srgbClr val="94A3B8"/>
                </a:solidFill>
                <a:latin typeface="Arial"/>
                <a:ea typeface="Arial"/>
              </a:rPr>
              <a:t>CollectLoop · RREF COLLECTION</a:t>
            </a:r>
            <a:endParaRPr/>
          </a:p>
        </p:txBody>
      </p:sp>
      <p:sp>
        <p:nvSpPr>
          <p:cNvPr id="163" name="" descr="{&quot;isTemplate&quot;:true,&quot;type&quot;:&quot;text&quot;}"/>
          <p:cNvSpPr txBox="1"/>
          <p:nvPr/>
        </p:nvSpPr>
        <p:spPr>
          <a:xfrm rot="0" flipH="0" flipV="0">
            <a:off x="11458575" y="6496050"/>
            <a:ext cx="161925" cy="171450"/>
          </a:xfrm>
          <a:prstGeom prst="rect"/>
        </p:spPr>
        <p:txBody>
          <a:bodyPr wrap="none" lIns="0" tIns="0" rIns="0" bIns="0"/>
          <a:p>
            <a:pPr>
              <a:lnSpc>
                <a:spcPct val="100000"/>
              </a:lnSpc>
            </a:pPr>
            <a:r>
              <a:rPr lang="en-US" sz="1125">
                <a:solidFill>
                  <a:srgbClr val="94A3B8"/>
                </a:solidFill>
                <a:latin typeface="Arial"/>
                <a:ea typeface="Arial"/>
              </a:rPr>
              <a:t>07</a:t>
            </a:r>
            <a:endParaRPr/>
          </a:p>
        </p:txBody>
      </p:sp>
    </p:spTree>
  </p:cSld>
</p:sld>
</file>

<file path=ppt/slides/slide8.xml><?xml version="1.0" encoding="utf-8"?>
<p:sld xmlns:p="http://schemas.openxmlformats.org/presentationml/2006/main" xmlns:a="http://schemas.openxmlformats.org/drawingml/2006/main">
  <p:cSld>
    <p:spTree>
      <p:nvGrpSpPr>
        <p:cNvPr id="164" name="" descr="&lt;Slide style={{ width: 1280, height: 720, padding: 60, background: '#FFFFFF', fontFamily: 'Arial', flexDirection: 'column' }}&gt;&#10;  &lt;Text style={{ fontSize: 34, fontWeight: 'bold', color: '#0F172A', lineHeight: 1.18, letterSpacing: -0.6 }}&gt;&#10;    Three things between this prototype and a paid pilot.&#10;  &lt;/Text&gt;&#10;  &lt;Box style={{ height: 1, background: '#E2E8F0', marginTop: 16 }} /&gt;&#10;&#10;  &lt;Box style={{ flexDirection: 'row', gap: 28, marginTop: 28 }}&gt;&#10;    &lt;Box style={{ width: 566, height: 196, background: '#EFF6FF', borderRadius: 8, padding: 22, flexDirection: 'column' }}&gt;&#10;      &lt;Box style={{ flexDirection: 'row', alignItems: 'flex-end' }}&gt;&#10;        &lt;Text style={{ fontSize: 44, fontWeight: 'bold', color: '#2563EB', lineHeight: 1 }}&gt;01&lt;/Text&gt;&#10;        &lt;Text style={{ fontSize: 22, fontWeight: 'bold', color: '#0F172A', marginLeft: 14, marginBottom: 4 }}&gt;Intake&lt;/Text&gt;&#10;      &lt;/Box&gt;&#10;      &lt;Text style={{ fontSize: 18, color: '#1E293B', lineHeight: 1.5, marginTop: 14 }}&gt;&#10;        Photo or QR capture feeding the same six fields the manual form already writes.&#10;        The contract is fixed; only the reader is missing.&#10;      &lt;/Text&gt;&#10;    &lt;/Box&gt;&#10;&#10;    &lt;Box style={{ width: 566, height: 196, background: '#EFF6FF', borderRadius: 8, padding: 22, flexDirection: 'column' }}&gt;&#10;      &lt;Box style={{ flexDirection: 'row', alignItems: 'flex-end' }}&gt;&#10;        &lt;Text style={{ fontSize: 44, fontWeight: 'bold', color: '#2563EB', lineHeight: 1 }}&gt;02&lt;/Text&gt;&#10;        &lt;Text style={{ fontSize: 22, fontWeight: 'bold', color: '#0F172A', marginLeft: 14, marginBottom: 4 }}&gt;Sending&lt;/Text&gt;&#10;      &lt;/Box&gt;&#10;      &lt;Text style={{ fontSize: 18, color: '#1E293B', lineHeight: 1.5, marginTop: 14 }}&gt;&#10;        One email API call behind the approval button that is already there. Unwired on purpose&#10;        today, so nothing leaves the building during a demo.&#10;      &lt;/Text&gt;&#10;    &lt;/Box&gt;&#10;  &lt;/Box&gt;&#10;&#10;  &lt;Box style={{ height: 196, background: '#EFF6FF', borderRadius: 8, padding: 22, flexDirection: 'column', marginTop: 20 }}&gt;&#10;    &lt;Box style={{ flexDirection: 'row', alignItems: 'flex-end' }}&gt;&#10;      &lt;Text style={{ fontSize: 44, fontWeight: 'bold', color: '#2563EB', lineHeight: 1 }}&gt;03&lt;/Text&gt;&#10;      &lt;Text style={{ fontSize: 22, fontWeight: 'bold', color: '#0F172A', marginLeft: 14, marginBottom: 4 }}&gt;Promise capture from messaging&lt;/Text&gt;&#10;    &lt;/Box&gt;&#10;    &lt;Text style={{ fontSize: 18, color: '#1E293B', lineHeight: 1.5, marginTop: 14, width: 1000 }}&gt;&#10;      Read the WhatsApp thread the promise was actually spoken in, so the ledger fills itself instead&#10;      of waiting for the owner to remember. This is the one that changes the product, and the one&#10;      with a consent question attached.&#10;    &lt;/Text&gt;&#10;  &lt;/Box&gt;&#10;&#10;  &lt;Box style={{ flex: 1 }} /&gt;&#10;&#10;  &lt;Box style={{ height: 78, border: '2px solid #F59E0B', borderRadius: 8, padding: '0 24px', flexDirection: 'row', alignItems: 'center' }}&gt;&#10;    &lt;Text style={{ width: 120, fontSize: 13, fontWeight: 'bold', color: '#B45309', letterSpacing: 1.4 }}&gt;THE ASK&lt;/Text&gt;&#10;    &lt;Text style={{ flex: 1, fontSize: 24, fontWeight: 'bold', color: '#0F172A', lineHeight: 1.3 }}&gt;&#10;      Tell us which of the three you would cut.&#10;    &lt;/Text&gt;&#10;  &lt;/Box&gt;&#10;&#10;  &lt;Text style={{ position: 'absolute', left: 60, bottom: 20, fontSize: 14, color: '#94A3B8' }}&gt;CollectLoop · RREF COLLECTION&lt;/Text&gt;&#10;  &lt;Text style={{ position: 'absolute', right: 60, bottom: 20, fontSize: 15, color: '#94A3B8' }}&gt;08&lt;/Text&gt;&#10;&lt;/Slide&gt;&#10;"/>
        <p:cNvGrpSpPr/>
        <p:nvPr/>
      </p:nvGrpSpPr>
      <p:grpSpPr>
        <a:xfrm>
          <a:off x="0" y="0"/>
          <a:ext cx="0" cy="0"/>
          <a:chOff x="0" y="0"/>
          <a:chExt cx="0" cy="0"/>
        </a:xfrm>
      </p:grpSpPr>
      <p:sp>
        <p:nvSpPr>
          <p:cNvPr id="165" name=""/>
          <p:cNvSpPr/>
          <p:nvPr/>
        </p:nvSpPr>
        <p:spPr>
          <a:xfrm rot="0" flipH="0" flipV="0">
            <a:off x="0" y="0"/>
            <a:ext cx="12192000" cy="6858000"/>
          </a:xfrm>
          <a:prstGeom prst="rect">
            <a:avLst/>
          </a:prstGeom>
          <a:solidFill>
            <a:srgbClr val="FFFFFF"/>
          </a:solidFill>
          <a:ln/>
        </p:spPr>
        <p:txBody>
          <a:bodyPr/>
          <a:p/>
        </p:txBody>
      </p:sp>
      <p:sp>
        <p:nvSpPr>
          <p:cNvPr id="166" name="" descr="{&quot;isTemplate&quot;:true,&quot;type&quot;:&quot;text&quot;}"/>
          <p:cNvSpPr txBox="1"/>
          <p:nvPr/>
        </p:nvSpPr>
        <p:spPr>
          <a:xfrm rot="0" flipH="0" flipV="0">
            <a:off x="571500" y="571500"/>
            <a:ext cx="11049000" cy="466725"/>
          </a:xfrm>
          <a:prstGeom prst="rect"/>
        </p:spPr>
        <p:txBody>
          <a:bodyPr wrap="none" lIns="0" tIns="0" rIns="0" bIns="0"/>
          <a:p>
            <a:pPr>
              <a:lnSpc>
                <a:spcPct val="118000"/>
              </a:lnSpc>
            </a:pPr>
            <a:r>
              <a:rPr lang="en-US" sz="2550" b="1" spc="-45">
                <a:solidFill>
                  <a:srgbClr val="0F172A"/>
                </a:solidFill>
                <a:latin typeface="Arial"/>
                <a:ea typeface="Arial"/>
              </a:rPr>
              <a:t>Three things between this prototype and a paid pilot.</a:t>
            </a:r>
            <a:endParaRPr/>
          </a:p>
        </p:txBody>
      </p:sp>
      <p:sp>
        <p:nvSpPr>
          <p:cNvPr id="167" name=""/>
          <p:cNvSpPr/>
          <p:nvPr/>
        </p:nvSpPr>
        <p:spPr>
          <a:xfrm rot="0" flipH="0" flipV="0">
            <a:off x="571500" y="1190625"/>
            <a:ext cx="11049000" cy="9525"/>
          </a:xfrm>
          <a:prstGeom prst="rect">
            <a:avLst/>
          </a:prstGeom>
          <a:solidFill>
            <a:srgbClr val="E2E8F0"/>
          </a:solidFill>
          <a:ln/>
        </p:spPr>
        <p:txBody>
          <a:bodyPr/>
          <a:p/>
        </p:txBody>
      </p:sp>
      <p:sp>
        <p:nvSpPr>
          <p:cNvPr id="168" name=""/>
          <p:cNvSpPr/>
          <p:nvPr/>
        </p:nvSpPr>
        <p:spPr>
          <a:xfrm rot="0" flipH="0" flipV="0">
            <a:off x="571500" y="1466850"/>
            <a:ext cx="5391150" cy="1866900"/>
          </a:xfrm>
          <a:prstGeom prst="roundRect">
            <a:avLst>
              <a:gd name="adj" fmla="val 4082"/>
            </a:avLst>
          </a:prstGeom>
          <a:solidFill>
            <a:srgbClr val="EFF6FF"/>
          </a:solidFill>
          <a:ln/>
        </p:spPr>
        <p:txBody>
          <a:bodyPr/>
          <a:p/>
        </p:txBody>
      </p:sp>
      <p:sp>
        <p:nvSpPr>
          <p:cNvPr id="169" name="" descr="{&quot;isTemplate&quot;:true,&quot;type&quot;:&quot;text&quot;}"/>
          <p:cNvSpPr txBox="1"/>
          <p:nvPr/>
        </p:nvSpPr>
        <p:spPr>
          <a:xfrm rot="0" flipH="0" flipV="0">
            <a:off x="781050" y="1676400"/>
            <a:ext cx="466725" cy="504825"/>
          </a:xfrm>
          <a:prstGeom prst="rect"/>
        </p:spPr>
        <p:txBody>
          <a:bodyPr wrap="none" lIns="0" tIns="0" rIns="0" bIns="0"/>
          <a:p>
            <a:pPr>
              <a:lnSpc>
                <a:spcPct val="100000"/>
              </a:lnSpc>
            </a:pPr>
            <a:r>
              <a:rPr lang="en-US" sz="3300" b="1">
                <a:solidFill>
                  <a:srgbClr val="2563EB"/>
                </a:solidFill>
                <a:latin typeface="Arial"/>
                <a:ea typeface="Arial"/>
              </a:rPr>
              <a:t>01</a:t>
            </a:r>
            <a:endParaRPr/>
          </a:p>
        </p:txBody>
      </p:sp>
      <p:sp>
        <p:nvSpPr>
          <p:cNvPr id="170" name="" descr="{&quot;isTemplate&quot;:true,&quot;type&quot;:&quot;text&quot;}"/>
          <p:cNvSpPr txBox="1"/>
          <p:nvPr/>
        </p:nvSpPr>
        <p:spPr>
          <a:xfrm rot="0" flipH="0" flipV="0">
            <a:off x="1381125" y="1885950"/>
            <a:ext cx="609600" cy="257175"/>
          </a:xfrm>
          <a:prstGeom prst="rect"/>
        </p:spPr>
        <p:txBody>
          <a:bodyPr wrap="none" lIns="0" tIns="0" rIns="0" bIns="0"/>
          <a:p>
            <a:pPr>
              <a:lnSpc>
                <a:spcPct val="100000"/>
              </a:lnSpc>
            </a:pPr>
            <a:r>
              <a:rPr lang="en-US" sz="1650" b="1">
                <a:solidFill>
                  <a:srgbClr val="0F172A"/>
                </a:solidFill>
                <a:latin typeface="Arial"/>
                <a:ea typeface="Arial"/>
              </a:rPr>
              <a:t>Intake</a:t>
            </a:r>
            <a:endParaRPr/>
          </a:p>
        </p:txBody>
      </p:sp>
      <p:sp>
        <p:nvSpPr>
          <p:cNvPr id="171" name="" descr="{&quot;isTemplate&quot;:true,&quot;type&quot;:&quot;text&quot;}"/>
          <p:cNvSpPr txBox="1"/>
          <p:nvPr/>
        </p:nvSpPr>
        <p:spPr>
          <a:xfrm rot="0" flipH="0" flipV="0">
            <a:off x="781050" y="2314575"/>
            <a:ext cx="4972050" cy="619125"/>
          </a:xfrm>
          <a:prstGeom prst="rect"/>
        </p:spPr>
        <p:txBody>
          <a:bodyPr wrap="square" lIns="0" tIns="0" rIns="0" bIns="0">
            <a:normAutofit/>
          </a:bodyPr>
          <a:p>
            <a:pPr>
              <a:lnSpc>
                <a:spcPct val="150000"/>
              </a:lnSpc>
            </a:pPr>
            <a:r>
              <a:rPr lang="en-US" sz="1350">
                <a:solidFill>
                  <a:srgbClr val="1E293B"/>
                </a:solidFill>
                <a:latin typeface="Arial"/>
                <a:ea typeface="Arial"/>
              </a:rPr>
              <a:t>Photo or QR capture feeding the same six fields the manual form already writes. The contract is fixed; only the reader is missing.</a:t>
            </a:r>
            <a:endParaRPr/>
          </a:p>
        </p:txBody>
      </p:sp>
      <p:sp>
        <p:nvSpPr>
          <p:cNvPr id="172" name=""/>
          <p:cNvSpPr/>
          <p:nvPr/>
        </p:nvSpPr>
        <p:spPr>
          <a:xfrm rot="0" flipH="0" flipV="0">
            <a:off x="6229350" y="1466850"/>
            <a:ext cx="5391150" cy="1866900"/>
          </a:xfrm>
          <a:prstGeom prst="roundRect">
            <a:avLst>
              <a:gd name="adj" fmla="val 4082"/>
            </a:avLst>
          </a:prstGeom>
          <a:solidFill>
            <a:srgbClr val="EFF6FF"/>
          </a:solidFill>
          <a:ln/>
        </p:spPr>
        <p:txBody>
          <a:bodyPr/>
          <a:p/>
        </p:txBody>
      </p:sp>
      <p:sp>
        <p:nvSpPr>
          <p:cNvPr id="173" name="" descr="{&quot;isTemplate&quot;:true,&quot;type&quot;:&quot;text&quot;}"/>
          <p:cNvSpPr txBox="1"/>
          <p:nvPr/>
        </p:nvSpPr>
        <p:spPr>
          <a:xfrm rot="0" flipH="0" flipV="0">
            <a:off x="6438900" y="1676400"/>
            <a:ext cx="466725" cy="504825"/>
          </a:xfrm>
          <a:prstGeom prst="rect"/>
        </p:spPr>
        <p:txBody>
          <a:bodyPr wrap="none" lIns="0" tIns="0" rIns="0" bIns="0"/>
          <a:p>
            <a:pPr>
              <a:lnSpc>
                <a:spcPct val="100000"/>
              </a:lnSpc>
            </a:pPr>
            <a:r>
              <a:rPr lang="en-US" sz="3300" b="1">
                <a:solidFill>
                  <a:srgbClr val="2563EB"/>
                </a:solidFill>
                <a:latin typeface="Arial"/>
                <a:ea typeface="Arial"/>
              </a:rPr>
              <a:t>02</a:t>
            </a:r>
            <a:endParaRPr/>
          </a:p>
        </p:txBody>
      </p:sp>
      <p:sp>
        <p:nvSpPr>
          <p:cNvPr id="174" name="" descr="{&quot;isTemplate&quot;:true,&quot;type&quot;:&quot;text&quot;}"/>
          <p:cNvSpPr txBox="1"/>
          <p:nvPr/>
        </p:nvSpPr>
        <p:spPr>
          <a:xfrm rot="0" flipH="0" flipV="0">
            <a:off x="7038975" y="1885950"/>
            <a:ext cx="828675" cy="257175"/>
          </a:xfrm>
          <a:prstGeom prst="rect"/>
        </p:spPr>
        <p:txBody>
          <a:bodyPr wrap="none" lIns="0" tIns="0" rIns="0" bIns="0"/>
          <a:p>
            <a:pPr>
              <a:lnSpc>
                <a:spcPct val="100000"/>
              </a:lnSpc>
            </a:pPr>
            <a:r>
              <a:rPr lang="en-US" sz="1650" b="1">
                <a:solidFill>
                  <a:srgbClr val="0F172A"/>
                </a:solidFill>
                <a:latin typeface="Arial"/>
                <a:ea typeface="Arial"/>
              </a:rPr>
              <a:t>Sending</a:t>
            </a:r>
            <a:endParaRPr/>
          </a:p>
        </p:txBody>
      </p:sp>
      <p:sp>
        <p:nvSpPr>
          <p:cNvPr id="175" name="" descr="{&quot;isTemplate&quot;:true,&quot;type&quot;:&quot;text&quot;}"/>
          <p:cNvSpPr txBox="1"/>
          <p:nvPr/>
        </p:nvSpPr>
        <p:spPr>
          <a:xfrm rot="0" flipH="0" flipV="0">
            <a:off x="6438900" y="2314575"/>
            <a:ext cx="4972050" cy="933450"/>
          </a:xfrm>
          <a:prstGeom prst="rect"/>
        </p:spPr>
        <p:txBody>
          <a:bodyPr wrap="square" lIns="0" tIns="0" rIns="0" bIns="0">
            <a:normAutofit/>
          </a:bodyPr>
          <a:p>
            <a:pPr>
              <a:lnSpc>
                <a:spcPct val="150000"/>
              </a:lnSpc>
            </a:pPr>
            <a:r>
              <a:rPr lang="en-US" sz="1350">
                <a:solidFill>
                  <a:srgbClr val="1E293B"/>
                </a:solidFill>
                <a:latin typeface="Arial"/>
                <a:ea typeface="Arial"/>
              </a:rPr>
              <a:t>One email API call behind the approval button that is already there. Unwired on purpose today, so nothing leaves the building during a demo.</a:t>
            </a:r>
            <a:endParaRPr/>
          </a:p>
        </p:txBody>
      </p:sp>
      <p:sp>
        <p:nvSpPr>
          <p:cNvPr id="176" name=""/>
          <p:cNvSpPr/>
          <p:nvPr/>
        </p:nvSpPr>
        <p:spPr>
          <a:xfrm rot="0" flipH="0" flipV="0">
            <a:off x="571500" y="3524250"/>
            <a:ext cx="11049000" cy="1866900"/>
          </a:xfrm>
          <a:prstGeom prst="roundRect">
            <a:avLst>
              <a:gd name="adj" fmla="val 4082"/>
            </a:avLst>
          </a:prstGeom>
          <a:solidFill>
            <a:srgbClr val="EFF6FF"/>
          </a:solidFill>
          <a:ln/>
        </p:spPr>
        <p:txBody>
          <a:bodyPr/>
          <a:p/>
        </p:txBody>
      </p:sp>
      <p:sp>
        <p:nvSpPr>
          <p:cNvPr id="177" name="" descr="{&quot;isTemplate&quot;:true,&quot;type&quot;:&quot;text&quot;}"/>
          <p:cNvSpPr txBox="1"/>
          <p:nvPr/>
        </p:nvSpPr>
        <p:spPr>
          <a:xfrm rot="0" flipH="0" flipV="0">
            <a:off x="781050" y="3733800"/>
            <a:ext cx="466725" cy="504825"/>
          </a:xfrm>
          <a:prstGeom prst="rect"/>
        </p:spPr>
        <p:txBody>
          <a:bodyPr wrap="none" lIns="0" tIns="0" rIns="0" bIns="0"/>
          <a:p>
            <a:pPr>
              <a:lnSpc>
                <a:spcPct val="100000"/>
              </a:lnSpc>
            </a:pPr>
            <a:r>
              <a:rPr lang="en-US" sz="3300" b="1">
                <a:solidFill>
                  <a:srgbClr val="2563EB"/>
                </a:solidFill>
                <a:latin typeface="Arial"/>
                <a:ea typeface="Arial"/>
              </a:rPr>
              <a:t>03</a:t>
            </a:r>
            <a:endParaRPr/>
          </a:p>
        </p:txBody>
      </p:sp>
      <p:sp>
        <p:nvSpPr>
          <p:cNvPr id="178" name="" descr="{&quot;isTemplate&quot;:true,&quot;type&quot;:&quot;text&quot;}"/>
          <p:cNvSpPr txBox="1"/>
          <p:nvPr/>
        </p:nvSpPr>
        <p:spPr>
          <a:xfrm rot="0" flipH="0" flipV="0">
            <a:off x="1381125" y="3943350"/>
            <a:ext cx="3324225" cy="257175"/>
          </a:xfrm>
          <a:prstGeom prst="rect"/>
        </p:spPr>
        <p:txBody>
          <a:bodyPr wrap="none" lIns="0" tIns="0" rIns="0" bIns="0"/>
          <a:p>
            <a:pPr>
              <a:lnSpc>
                <a:spcPct val="100000"/>
              </a:lnSpc>
            </a:pPr>
            <a:r>
              <a:rPr lang="en-US" sz="1650" b="1">
                <a:solidFill>
                  <a:srgbClr val="0F172A"/>
                </a:solidFill>
                <a:latin typeface="Arial"/>
                <a:ea typeface="Arial"/>
              </a:rPr>
              <a:t>Promise capture from messaging</a:t>
            </a:r>
            <a:endParaRPr/>
          </a:p>
        </p:txBody>
      </p:sp>
      <p:sp>
        <p:nvSpPr>
          <p:cNvPr id="179" name="" descr="{&quot;isTemplate&quot;:true,&quot;type&quot;:&quot;text&quot;}"/>
          <p:cNvSpPr txBox="1"/>
          <p:nvPr/>
        </p:nvSpPr>
        <p:spPr>
          <a:xfrm rot="0" flipH="0" flipV="0">
            <a:off x="781050" y="4371975"/>
            <a:ext cx="9525000" cy="619125"/>
          </a:xfrm>
          <a:prstGeom prst="rect"/>
        </p:spPr>
        <p:txBody>
          <a:bodyPr wrap="square" lIns="0" tIns="0" rIns="0" bIns="0">
            <a:normAutofit/>
          </a:bodyPr>
          <a:p>
            <a:pPr>
              <a:lnSpc>
                <a:spcPct val="150000"/>
              </a:lnSpc>
            </a:pPr>
            <a:r>
              <a:rPr lang="en-US" sz="1350">
                <a:solidFill>
                  <a:srgbClr val="1E293B"/>
                </a:solidFill>
                <a:latin typeface="Arial"/>
                <a:ea typeface="Arial"/>
              </a:rPr>
              <a:t>Read the WhatsApp thread the promise was actually spoken in, so the ledger fills itself instead of waiting for the owner to remember. This is the one that changes the product, and the one with a consent question attached.</a:t>
            </a:r>
            <a:endParaRPr/>
          </a:p>
        </p:txBody>
      </p:sp>
      <p:sp>
        <p:nvSpPr>
          <p:cNvPr id="180" name=""/>
          <p:cNvSpPr/>
          <p:nvPr/>
        </p:nvSpPr>
        <p:spPr>
          <a:xfrm rot="0" flipH="0" flipV="0">
            <a:off x="571500" y="5543550"/>
            <a:ext cx="11049000" cy="742950"/>
          </a:xfrm>
          <a:prstGeom prst="roundRect">
            <a:avLst>
              <a:gd name="adj" fmla="val 10256"/>
            </a:avLst>
          </a:prstGeom>
          <a:ln w="25400">
            <a:solidFill>
              <a:srgbClr val="F59E0B"/>
            </a:solidFill>
            <a:prstDash val="solid"/>
          </a:ln>
        </p:spPr>
        <p:txBody>
          <a:bodyPr/>
          <a:p/>
        </p:txBody>
      </p:sp>
      <p:sp>
        <p:nvSpPr>
          <p:cNvPr id="181" name="" descr="{&quot;isTemplate&quot;:true,&quot;type&quot;:&quot;text&quot;}"/>
          <p:cNvSpPr txBox="1"/>
          <p:nvPr/>
        </p:nvSpPr>
        <p:spPr>
          <a:xfrm rot="0" flipH="0" flipV="0">
            <a:off x="800100" y="5838825"/>
            <a:ext cx="1143000" cy="152400"/>
          </a:xfrm>
          <a:prstGeom prst="rect"/>
        </p:spPr>
        <p:txBody>
          <a:bodyPr wrap="none" lIns="0" tIns="0" rIns="0" bIns="0"/>
          <a:p>
            <a:pPr>
              <a:lnSpc>
                <a:spcPct val="100000"/>
              </a:lnSpc>
            </a:pPr>
            <a:r>
              <a:rPr lang="en-US" sz="975" b="1" spc="105">
                <a:solidFill>
                  <a:srgbClr val="B45309"/>
                </a:solidFill>
                <a:latin typeface="Arial"/>
                <a:ea typeface="Arial"/>
              </a:rPr>
              <a:t>THE ASK</a:t>
            </a:r>
            <a:endParaRPr/>
          </a:p>
        </p:txBody>
      </p:sp>
      <p:sp>
        <p:nvSpPr>
          <p:cNvPr id="182" name="" descr="{&quot;isTemplate&quot;:true,&quot;type&quot;:&quot;text&quot;}"/>
          <p:cNvSpPr txBox="1"/>
          <p:nvPr/>
        </p:nvSpPr>
        <p:spPr>
          <a:xfrm rot="0" flipH="0" flipV="0">
            <a:off x="1943100" y="5734050"/>
            <a:ext cx="9448800" cy="361950"/>
          </a:xfrm>
          <a:prstGeom prst="rect"/>
        </p:spPr>
        <p:txBody>
          <a:bodyPr wrap="none" lIns="0" tIns="0" rIns="0" bIns="0"/>
          <a:p>
            <a:pPr>
              <a:lnSpc>
                <a:spcPct val="130000"/>
              </a:lnSpc>
            </a:pPr>
            <a:r>
              <a:rPr lang="en-US" sz="1800" b="1">
                <a:solidFill>
                  <a:srgbClr val="0F172A"/>
                </a:solidFill>
                <a:latin typeface="Arial"/>
                <a:ea typeface="Arial"/>
              </a:rPr>
              <a:t>Tell us which of the three you would cut.</a:t>
            </a:r>
            <a:endParaRPr/>
          </a:p>
        </p:txBody>
      </p:sp>
      <p:sp>
        <p:nvSpPr>
          <p:cNvPr id="183" name="" descr="{&quot;isTemplate&quot;:true,&quot;type&quot;:&quot;text&quot;}"/>
          <p:cNvSpPr txBox="1"/>
          <p:nvPr/>
        </p:nvSpPr>
        <p:spPr>
          <a:xfrm rot="0" flipH="0" flipV="0">
            <a:off x="571500" y="6505575"/>
            <a:ext cx="2076450" cy="161925"/>
          </a:xfrm>
          <a:prstGeom prst="rect"/>
        </p:spPr>
        <p:txBody>
          <a:bodyPr wrap="none" lIns="0" tIns="0" rIns="0" bIns="0"/>
          <a:p>
            <a:pPr>
              <a:lnSpc>
                <a:spcPct val="100000"/>
              </a:lnSpc>
            </a:pPr>
            <a:r>
              <a:rPr lang="en-US" sz="1050">
                <a:solidFill>
                  <a:srgbClr val="94A3B8"/>
                </a:solidFill>
                <a:latin typeface="Arial"/>
                <a:ea typeface="Arial"/>
              </a:rPr>
              <a:t>CollectLoop · RREF COLLECTION</a:t>
            </a:r>
            <a:endParaRPr/>
          </a:p>
        </p:txBody>
      </p:sp>
      <p:sp>
        <p:nvSpPr>
          <p:cNvPr id="184" name="" descr="{&quot;isTemplate&quot;:true,&quot;type&quot;:&quot;text&quot;}"/>
          <p:cNvSpPr txBox="1"/>
          <p:nvPr/>
        </p:nvSpPr>
        <p:spPr>
          <a:xfrm rot="0" flipH="0" flipV="0">
            <a:off x="11458575" y="6496050"/>
            <a:ext cx="161925" cy="171450"/>
          </a:xfrm>
          <a:prstGeom prst="rect"/>
        </p:spPr>
        <p:txBody>
          <a:bodyPr wrap="none" lIns="0" tIns="0" rIns="0" bIns="0"/>
          <a:p>
            <a:pPr>
              <a:lnSpc>
                <a:spcPct val="100000"/>
              </a:lnSpc>
            </a:pPr>
            <a:r>
              <a:rPr lang="en-US" sz="1125">
                <a:solidFill>
                  <a:srgbClr val="94A3B8"/>
                </a:solidFill>
                <a:latin typeface="Arial"/>
                <a:ea typeface="Arial"/>
              </a:rPr>
              <a:t>08</a:t>
            </a:r>
            <a:endParaRPr/>
          </a:p>
        </p:txBody>
      </p:sp>
    </p:spTree>
  </p:cSld>
</p:sld>
</file>

<file path=ppt/slides/slide9.xml><?xml version="1.0" encoding="utf-8"?>
<p:sld xmlns:p="http://schemas.openxmlformats.org/presentationml/2006/main" xmlns:a="http://schemas.openxmlformats.org/drawingml/2006/main">
  <p:cSld>
    <p:spTree>
      <p:nvGrpSpPr>
        <p:cNvPr id="185" name="" descr="&lt;Slide style={{ width: 1280, height: 720, padding: 60, background: '#0F172A', fontFamily: 'Arial', flexDirection: 'column' }}&gt;&#10;  &lt;Text style={{ fontSize: 14, fontWeight: 'bold', color: '#93C5FD', letterSpacing: 2.4 }}&gt;&#10;    RREF COLLECTION · SDC 2026 · DOMAIN 2&#10;  &lt;/Text&gt;&#10;&#10;  &lt;Box style={{ flex: 1 }} /&gt;&#10;&#10;  &lt;Text style={{ fontSize: 62, fontWeight: 'bold', color: '#FFFFFF', lineHeight: 1.16, letterSpacing: -1.2, width: 960 }}&gt;&#10;    One person, three fields, nothing chased by hand.&#10;  &lt;/Text&gt;&#10;  &lt;Box style={{ width: 64, height: 3, background: '#F59E0B', borderRadius: 2, marginTop: 32 }} /&gt;&#10;  &lt;Text style={{ fontSize: 21, color: '#CBD5E1', lineHeight: 1.55, marginTop: 26, width: 760 }}&gt;&#10;    That is the whole loop. Everything else in this deck is evidence for that sentence.&#10;  &lt;/Text&gt;&#10;&#10;  &lt;Box style={{ flex: 1 }} /&gt;&#10;&#10;  &lt;Box style={{ height: 1, background: '#1E293B' }} /&gt;&#10;  &lt;Box style={{ flexDirection: 'row', marginTop: 18 }}&gt;&#10;    &lt;Text style={{ width: 360, fontSize: 15, color: '#94A3B8', lineHeight: 1.5 }}&gt;&#10;      Xiamen University Malaysia · Preliminary Round&#10;    &lt;/Text&gt;&#10;    &lt;Text style={{ width: 420, fontSize: 15, color: '#94A3B8', lineHeight: 1.5 }}&gt;&#10;      github.com/Carrey82/rref-collection-sdc&#10;    &lt;/Text&gt;&#10;    &lt;Text style={{ flex: 1, fontSize: 15, color: '#94A3B8', lineHeight: 1.5, textAlign: 'right' }}&gt;&#10;      25 October 2026&#10;    &lt;/Text&gt;&#10;  &lt;/Box&gt;&#10;&lt;/Slide&gt;&#10;"/>
        <p:cNvGrpSpPr/>
        <p:nvPr/>
      </p:nvGrpSpPr>
      <p:grpSpPr>
        <a:xfrm>
          <a:off x="0" y="0"/>
          <a:ext cx="0" cy="0"/>
          <a:chOff x="0" y="0"/>
          <a:chExt cx="0" cy="0"/>
        </a:xfrm>
      </p:grpSpPr>
      <p:sp>
        <p:nvSpPr>
          <p:cNvPr id="186" name=""/>
          <p:cNvSpPr/>
          <p:nvPr/>
        </p:nvSpPr>
        <p:spPr>
          <a:xfrm rot="0" flipH="0" flipV="0">
            <a:off x="0" y="0"/>
            <a:ext cx="12192000" cy="6858000"/>
          </a:xfrm>
          <a:prstGeom prst="rect">
            <a:avLst/>
          </a:prstGeom>
          <a:solidFill>
            <a:srgbClr val="0F172A"/>
          </a:solidFill>
          <a:ln/>
        </p:spPr>
        <p:txBody>
          <a:bodyPr/>
          <a:p/>
        </p:txBody>
      </p:sp>
      <p:sp>
        <p:nvSpPr>
          <p:cNvPr id="187" name="" descr="{&quot;isTemplate&quot;:true,&quot;type&quot;:&quot;text&quot;}"/>
          <p:cNvSpPr txBox="1"/>
          <p:nvPr/>
        </p:nvSpPr>
        <p:spPr>
          <a:xfrm rot="0" flipH="0" flipV="0">
            <a:off x="571500" y="571500"/>
            <a:ext cx="11049000" cy="161925"/>
          </a:xfrm>
          <a:prstGeom prst="rect"/>
        </p:spPr>
        <p:txBody>
          <a:bodyPr wrap="none" lIns="0" tIns="0" rIns="0" bIns="0"/>
          <a:p>
            <a:pPr>
              <a:lnSpc>
                <a:spcPct val="100000"/>
              </a:lnSpc>
            </a:pPr>
            <a:r>
              <a:rPr lang="en-US" sz="1050" b="1" spc="180">
                <a:solidFill>
                  <a:srgbClr val="93C5FD"/>
                </a:solidFill>
                <a:latin typeface="Arial"/>
                <a:ea typeface="Arial"/>
              </a:rPr>
              <a:t>RREF COLLECTION · SDC 2026 · DOMAIN 2</a:t>
            </a:r>
            <a:endParaRPr/>
          </a:p>
        </p:txBody>
      </p:sp>
      <p:sp>
        <p:nvSpPr>
          <p:cNvPr id="188" name="" descr="{&quot;isTemplate&quot;:true,&quot;type&quot;:&quot;text&quot;}"/>
          <p:cNvSpPr txBox="1"/>
          <p:nvPr/>
        </p:nvSpPr>
        <p:spPr>
          <a:xfrm rot="0" flipH="0" flipV="0">
            <a:off x="571500" y="1990725"/>
            <a:ext cx="9144000" cy="1647825"/>
          </a:xfrm>
          <a:prstGeom prst="rect"/>
        </p:spPr>
        <p:txBody>
          <a:bodyPr wrap="square" lIns="0" tIns="0" rIns="0" bIns="0">
            <a:normAutofit/>
          </a:bodyPr>
          <a:p>
            <a:pPr>
              <a:lnSpc>
                <a:spcPct val="115999"/>
              </a:lnSpc>
            </a:pPr>
            <a:r>
              <a:rPr lang="en-US" sz="4650" b="1" spc="-90">
                <a:solidFill>
                  <a:srgbClr val="FFFFFF"/>
                </a:solidFill>
                <a:latin typeface="Arial"/>
                <a:ea typeface="Arial"/>
              </a:rPr>
              <a:t>One person, three fields, nothing chased by hand.</a:t>
            </a:r>
            <a:endParaRPr/>
          </a:p>
        </p:txBody>
      </p:sp>
      <p:sp>
        <p:nvSpPr>
          <p:cNvPr id="189" name=""/>
          <p:cNvSpPr/>
          <p:nvPr/>
        </p:nvSpPr>
        <p:spPr>
          <a:xfrm rot="0" flipH="0" flipV="0">
            <a:off x="571500" y="3943350"/>
            <a:ext cx="609600" cy="28575"/>
          </a:xfrm>
          <a:prstGeom prst="roundRect">
            <a:avLst>
              <a:gd name="adj" fmla="val 66667"/>
            </a:avLst>
          </a:prstGeom>
          <a:solidFill>
            <a:srgbClr val="F59E0B"/>
          </a:solidFill>
          <a:ln/>
        </p:spPr>
        <p:txBody>
          <a:bodyPr/>
          <a:p/>
        </p:txBody>
      </p:sp>
      <p:sp>
        <p:nvSpPr>
          <p:cNvPr id="190" name="" descr="{&quot;isTemplate&quot;:true,&quot;type&quot;:&quot;text&quot;}"/>
          <p:cNvSpPr txBox="1"/>
          <p:nvPr/>
        </p:nvSpPr>
        <p:spPr>
          <a:xfrm rot="0" flipH="0" flipV="0">
            <a:off x="571500" y="4219575"/>
            <a:ext cx="7239000" cy="381000"/>
          </a:xfrm>
          <a:prstGeom prst="rect"/>
        </p:spPr>
        <p:txBody>
          <a:bodyPr wrap="none" lIns="0" tIns="0" rIns="0" bIns="0"/>
          <a:p>
            <a:pPr>
              <a:lnSpc>
                <a:spcPct val="155000"/>
              </a:lnSpc>
            </a:pPr>
            <a:r>
              <a:rPr lang="en-US" sz="1575">
                <a:solidFill>
                  <a:srgbClr val="CBD5E1"/>
                </a:solidFill>
                <a:latin typeface="Arial"/>
                <a:ea typeface="Arial"/>
              </a:rPr>
              <a:t>That is the whole loop. Everything else in this deck is evidence for that sentence.</a:t>
            </a:r>
            <a:endParaRPr/>
          </a:p>
        </p:txBody>
      </p:sp>
      <p:sp>
        <p:nvSpPr>
          <p:cNvPr id="191" name=""/>
          <p:cNvSpPr/>
          <p:nvPr/>
        </p:nvSpPr>
        <p:spPr>
          <a:xfrm rot="0" flipH="0" flipV="0">
            <a:off x="571500" y="5848350"/>
            <a:ext cx="11049000" cy="9525"/>
          </a:xfrm>
          <a:prstGeom prst="rect">
            <a:avLst/>
          </a:prstGeom>
          <a:solidFill>
            <a:srgbClr val="1E293B"/>
          </a:solidFill>
          <a:ln/>
        </p:spPr>
        <p:txBody>
          <a:bodyPr/>
          <a:p/>
        </p:txBody>
      </p:sp>
      <p:sp>
        <p:nvSpPr>
          <p:cNvPr id="192" name="" descr="{&quot;isTemplate&quot;:true,&quot;type&quot;:&quot;text&quot;}"/>
          <p:cNvSpPr txBox="1"/>
          <p:nvPr/>
        </p:nvSpPr>
        <p:spPr>
          <a:xfrm rot="0" flipH="0" flipV="0">
            <a:off x="571500" y="6029325"/>
            <a:ext cx="3429000" cy="257175"/>
          </a:xfrm>
          <a:prstGeom prst="rect"/>
        </p:spPr>
        <p:txBody>
          <a:bodyPr wrap="none" lIns="0" tIns="0" rIns="0" bIns="0"/>
          <a:p>
            <a:pPr>
              <a:lnSpc>
                <a:spcPct val="150000"/>
              </a:lnSpc>
            </a:pPr>
            <a:r>
              <a:rPr lang="en-US" sz="1125">
                <a:solidFill>
                  <a:srgbClr val="94A3B8"/>
                </a:solidFill>
                <a:latin typeface="Arial"/>
                <a:ea typeface="Arial"/>
              </a:rPr>
              <a:t>Xiamen University Malaysia · Preliminary Round</a:t>
            </a:r>
            <a:endParaRPr/>
          </a:p>
        </p:txBody>
      </p:sp>
      <p:sp>
        <p:nvSpPr>
          <p:cNvPr id="193" name="" descr="{&quot;isTemplate&quot;:true,&quot;type&quot;:&quot;text&quot;}"/>
          <p:cNvSpPr txBox="1"/>
          <p:nvPr/>
        </p:nvSpPr>
        <p:spPr>
          <a:xfrm rot="0" flipH="0" flipV="0">
            <a:off x="4000500" y="6029325"/>
            <a:ext cx="4000500" cy="257175"/>
          </a:xfrm>
          <a:prstGeom prst="rect"/>
        </p:spPr>
        <p:txBody>
          <a:bodyPr wrap="none" lIns="0" tIns="0" rIns="0" bIns="0"/>
          <a:p>
            <a:pPr>
              <a:lnSpc>
                <a:spcPct val="150000"/>
              </a:lnSpc>
            </a:pPr>
            <a:r>
              <a:rPr lang="en-US" sz="1125">
                <a:solidFill>
                  <a:srgbClr val="94A3B8"/>
                </a:solidFill>
                <a:latin typeface="Arial"/>
                <a:ea typeface="Arial"/>
              </a:rPr>
              <a:t>github.com/Carrey82/rref-collection-sdc</a:t>
            </a:r>
            <a:endParaRPr/>
          </a:p>
        </p:txBody>
      </p:sp>
      <p:sp>
        <p:nvSpPr>
          <p:cNvPr id="194" name="" descr="{&quot;isTemplate&quot;:true,&quot;type&quot;:&quot;text&quot;}"/>
          <p:cNvSpPr txBox="1"/>
          <p:nvPr/>
        </p:nvSpPr>
        <p:spPr>
          <a:xfrm rot="0" flipH="0" flipV="0">
            <a:off x="8001000" y="6029325"/>
            <a:ext cx="3619500" cy="257175"/>
          </a:xfrm>
          <a:prstGeom prst="rect"/>
        </p:spPr>
        <p:txBody>
          <a:bodyPr wrap="none" lIns="0" tIns="0" rIns="0" bIns="0"/>
          <a:p>
            <a:pPr algn="r">
              <a:lnSpc>
                <a:spcPct val="150000"/>
              </a:lnSpc>
            </a:pPr>
            <a:r>
              <a:rPr lang="en-US" sz="1125">
                <a:solidFill>
                  <a:srgbClr val="94A3B8"/>
                </a:solidFill>
                <a:latin typeface="Arial"/>
                <a:ea typeface="Arial"/>
              </a:rPr>
              <a:t>25 October 2026</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2026-10-23T22:30:08Z</dcterms:created>
  <dcterms:modified xsi:type="dcterms:W3CDTF">2026-10-23T22:30:08Z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{"AIGC":{"Label":"1","ContentProducer":"00119111010856365494821B355","ProduceID":"01a16927bab67f8987b481575be15d8e","ReservedCode1":"","ContentPropagator":"00119111010856365494821B355","PropagateID":"01a16927bab67f8987b481575be15d8e","ReservedCode2":""}}</vt:lpwstr>
  </property>
</Properties>
</file>